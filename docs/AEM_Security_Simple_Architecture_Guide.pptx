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69" r:id="rId20"/>
    <p:sldId id="270" r:id="rId21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34747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AEM 6.5 Lightweight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AEM 경량 보안 필터 (security-simple)</a:t>
            </a:r>
          </a:p>
          <a:p>
            <a:pPr>
              <a:spcBef>
                <a:spcPts val="800"/>
              </a:spcBef>
              <a:defRPr sz="3000" b="1">
                <a:solidFill>
                  <a:srgbClr val="60A5FA"/>
                </a:solidFill>
                <a:latin typeface="Malgun Gothic"/>
              </a:defRPr>
            </a:pPr>
            <a:r>
              <a:t>아키텍처 설계 및 핵심 기능 기술서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Malgun Gothic"/>
              </a:defRPr>
            </a:pPr>
            <a:r>
              <a:t>Referer · HTTP Method · Parameter 3대 핵심 보안 검증기를 기반으로</a:t>
            </a:r>
            <a:br/>
            <a:r>
              <a:t>OSGi 동적 서블릿 바인딩, 기본 정책(Default Policy) 상속, 상세 감사 로깅을 제공하는 고성능 Sling 보안 필터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33375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신뢰 도메인(abc.com) 및 서블릿별 허용 Referer 검증</a:t>
            </a:r>
            <a:br/>
            <a:r>
              <a:t>외부 사이트 경유 CSRF 및 무단 API 호출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434840"/>
            <a:ext cx="33375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허용된 HTTP Method 화이트리스트(O(1) Set) 검증</a:t>
            </a:r>
            <a:br/>
            <a:r>
              <a:t>비인가 메소드(DELETE, PUT 등) 호출 원천 차단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333756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39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필수/미정의 파라미터 통제, 길이·정규식·DSL 검증</a:t>
            </a:r>
            <a:br/>
            <a:r>
              <a:t>Path Traversal · SQL/JCR2 Injection · XSS 방어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01.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추진 배경 및 경량화 아키텍처 설계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핵심 보안 위협 방어와 고성능·운영 편의성의 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1. 핵심 3대 검증기 중심 경량화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기존 다중 Validator 구조를 가장 실질적인 웹 API 공격 표면인 3대 검증기로 일원화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1) RefererPolicyValidator (출처 도메인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2) MethodPolicyValidator (HTTP 메소드 통제)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3) ParamPolicyValidator (파라미터 심층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불필요한 필터 오버헤드(세션/토큰/레이트리밋/리스폰스 래핑 등) 제거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코드 복잡도 대폭 감소 및 유지보수성 극대화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모든 클래스/메소드 한글 Javadoc 및 단계별 디버그 로깅 완비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325880"/>
            <a:ext cx="36576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2. 선언적 보안 설정 &amp; 정책 자동 상속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중앙 집중형 기본 정책 (SecurityFilter.config)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기본 Referer(abc.com), 기본 Method(GET, POST), 공통 페이징/검색 파라미터(page, size, keyword 등) 일괄 정의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서블릿 컴포넌트 선언적 바인딩 (@Component)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각 서블릿이 security.methods, security.params 등 필요한 항목만 선언하면 OSGi가 자동 감지·등록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계층적 상속 (inheritFrom)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서블릿에 미지정된 설정은 defaultPolicy에서 자동 상속받으며, 명시한 항목만 오버라이드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4152" y="1325880"/>
            <a:ext cx="36576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3. 고성능 매칭 &amp; 정밀한 감사/디버그 로깅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O(1) 해시 캐시 및 사전 컴파일 정규식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ConcurrentHashMap 기반 경로/리소스타입 O(1) 조회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모든 정규식(타겟 패턴, 파라미터 패턴, SQLi/XSS 시그니처) 초기화 시 1회 사전 컴파일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차단 시 즉각적인 원인 파악 로깅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BlockedByConfig: 차단을 유발한 정확한 설정 규칙과 요청 입력값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AppliedServletPolicy: 서블릿에 적용된 전체 보안 정책 요약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바인딩/언바인딩 로그 노이즈 차단으로 운영 안정성 확보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02.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및 요청 처리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Sling REQUEST Scope Filter (Ranking 10000) 기반 선제적 방어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755648" cy="1508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</a:t>
            </a:r>
            <a:br/>
            <a:r>
              <a:t>HTTP 요청 유입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Client / Browser</a:t>
            </a:r>
            <a:br/>
            <a:r>
              <a:t>GET·POST /aemapi/...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31136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1325880"/>
            <a:ext cx="1755648" cy="1508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</a:t>
            </a:r>
            <a:br/>
            <a:r>
              <a:t>Fast-Path 가드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SecurityFilter.doFilter</a:t>
            </a:r>
            <a:br/>
            <a:r>
              <a:t>matchesFilterPattern(uri)</a:t>
            </a:r>
            <a:br/>
            <a:r>
              <a:t>대상 경로만 필터링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1755648" cy="1508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</a:t>
            </a:r>
            <a:br/>
            <a:r>
              <a:t>6단계 정책 매칭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ServletSecurityConfig</a:t>
            </a:r>
            <a:br/>
            <a:r>
              <a:t>findMatchingPolicy()</a:t>
            </a:r>
            <a:br/>
            <a:r>
              <a:t>정적/동적/기본정책 조회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5040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1325880"/>
            <a:ext cx="1755648" cy="1508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</a:t>
            </a:r>
            <a:br/>
            <a:r>
              <a:t>3대 검증기 체인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1. RefererValidator</a:t>
            </a:r>
            <a:br/>
            <a:r>
              <a:t>2. MethodValidator</a:t>
            </a:r>
            <a:br/>
            <a:r>
              <a:t>3. ParamValidator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325880"/>
            <a:ext cx="1755648" cy="15087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5-A (통과)</a:t>
            </a:r>
            <a:br/>
            <a:r>
              <a:t>서블릿 실행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chain.doFilter()</a:t>
            </a:r>
            <a:br/>
            <a:r>
              <a:t>PassedConfig 디버그 기록</a:t>
            </a:r>
            <a:br/>
            <a:r>
              <a:t>정상 비즈니스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38944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1325880"/>
            <a:ext cx="1755648" cy="15087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5-B (차단)</a:t>
            </a:r>
            <a:br/>
            <a:r>
              <a:t>위반 로깅 &amp; 응답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handleSecurityViolation</a:t>
            </a:r>
            <a:br/>
            <a:r>
              <a:t>BlockedByConfig + Policy</a:t>
            </a:r>
            <a:br/>
            <a:r>
              <a:t>JSON 에러 응답 반환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5532120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63240"/>
            <a:ext cx="553212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10896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핵심 컴포넌트 역할 및 패키지 구조 (com.example.security)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502152"/>
            <a:ext cx="523951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filters.SecurityFilter : OSGi Sling 서블릿 필터 진입점, 설정 로드, 동적 서블릿 바인딩, 검증 체인 실행 및 위반 응답 처리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models.ServletSecurityConfig : 전체 정책 컨테이너, O(1) 정적/동적 정책 캐시 맵 관리, 6단계 우선순위 정책 매칭 엔진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models.ServletPolicyRule : 서블릿/타겟 단위 보안 규칙 모델, OSGi 프로퍼티/DSL 파서(fromOsgiProperties), defaultPolicy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models.ParamRule : 개별 파라미터 검증 규칙(required, min/maxLength, pattern, allowPathTraversal/SqlInjection/Xss)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validators.* : PolicyValidator 인터페이스 및 Referer / Method / Param 3대 검증기, ValidationResult(blockedConfig 포함)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models.SecurityErrorCode &amp; utils.SecurityUtils : 표준 에러 코드(SEC-40001~40501) 및 클라이언트 IP 추출·로그 개행 치환 유틸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559552" cy="33832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6324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9067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SecurityFilter.doFilter() &amp; evaluatePoliciesAndFindActive() 핵심 실행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410712"/>
            <a:ext cx="530352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Fast-Path 경로 가드: 대상 API 경로가 아니면 즉시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(!matchesFilterPattern(requestUri))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chain.doFilter(servletRequest, servletResponse);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요청에 매칭되는 서블릿 보안 정책 조회 (Tier 1 ~ Tier 6)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ServletPolicyRule matchedPolicy = servletSecurityConfig.findMatchingPolicy(request);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3. 3대 핵심 Validator 체인 순차 실행 (REFERER -&gt; METHOD -&gt; PARAM)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(PolicyValidator validator : validators)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(!validator.isEnabled(matchedPolicy, servletSecurityConfig)) continue;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ValidationResult result = validator.validate(request, matchedPolicy, servletSecurityConfig);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(!result.isValid())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handleSecurityViolation(request, response, matchedPolicy, validator.getName(),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result.getStatusCode(), result.getSubCode(), result.getViolationDetail(),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result.getBlockedConfig(), result.getResponseMessage());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REJECTED_POLICY;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06. DYNAMIC BINDING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동적 서블릿 바인딩 및 기본 정책 상속 메커니즘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등록/해제 시 자동 정책 동기화 및 로그 노이즈 억제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07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@Reference 동적 바인딩 (bindServlet / unbindServlet)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@Reference(service = Servlet.class, cardinality = MULTIPLE, policy = DYNAMIC)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AEM 컨테이너 내 서블릿이 시작/종료될 때 SecurityFilter가 자동 감지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선별적 바인딩 (isApplicableServlet):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서블릿의 sling.servlet.paths 또는 sling.servlet.resourceTypes가 필터의 sling.filter.pattern 정규식과 일치하는 경우에만 정책 생성 및 등록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바인딩/언바인딩 로그 출력 차단 (Zero Log Noise):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수백 개의 서블릿이 기동/재배포될 때 로그가 폭증하지 않도록 bindServlet, unbindServlet, registerDynamicPolicy 내부의 디버그 로그 출력 완전 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기본 정책 상속 및 병합 규칙 (ServletPolicyRule.inheritFrom)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64792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1단계: 서블릿의 OSGi 프로퍼티(security.*)로부터 개별 ServletPolicyRule 파싱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2단계: SecurityFilter.config의 defaultPolicy로부터 미지정 속성 자동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methods: 서블릿에 미지정 시 default.methods([GET, POST])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defaultReferrer &amp; allowedReferrers: 기본 도메인(abc.com) 상속 + 서블릿 허용 도메인 병합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blockSqlInjection / blockXss / allowUndefinedParams: 미지정 시 기본 정책값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params: default.params(공통 페이징/정렬 규칙)를 기반으로 서블릿 고유 파라미터 규칙 병합 (동일 파라미터명은 서블릿 규칙이 우선)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1127455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005071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정책 상속 및 병합 예시: Default Policy + 개별 서블릿 설정 -&gt; 최종 런타임 적용 정책 (AppliedServletPolicy)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325111"/>
            <a:ext cx="1101852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[1] Default Policy (SecurityFilter.config)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methods=[GET, POST], defaultReferrer='abc.com', blockSqlInjection=true, blockXss=true, allowUndefinedParams=false,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params={page: digits(5), size: digits(4), sort: alnum(30), order: asc|desc(4), lang: pattern, keyword: max(100)}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inheritFrom(defaultPolicy) 자동 병합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[2] UserProfileServlet (@Component 프로퍼티 선언)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sling.servlet.paths='/aemapi/user/profile', security.methods='GET', security.allowedReferrers='partner.abc.com',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security.params=['userId:required:alnum:4..20', 'tab:optional:profile|settings|activity:15']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최종 생성된 동적 정책 (dynamicPolicies.get('/aemapi/user/profile'))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[3] Effective AppliedServletPolicy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target=/aemapi/user/profile, methods=[GET], allowedReferrers=[abc.com, partner.abc.com], blockSqlInjection=true, blockXss=true,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allowUndefinedParams=false, params={page, size, sort, order, lang, keyword, userId(required,4..20), tab(optional,profile|settings|activity)}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07. POLICY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6단계(Tier 1~6) 우선순위 기반 고속 정책 매칭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ServletSecurityConfig.findMatchingPolicy(HttpServletRequest) 동작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08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3931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1] 정적 설정 경로 O(1) 일치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2563EB"/>
                </a:solidFill>
                <a:latin typeface="Consolas"/>
              </a:defRPr>
            </a:pPr>
            <a:r>
              <a:t>조회 대상: exactPathPolicies.get(uri)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OSGi 설정에 명시된 정확한 URI 경로(/aemapi/v1/users)를 해시맵에서 O(1)로 즉시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1 매칭 성공 로그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9392" y="1325880"/>
            <a:ext cx="363931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2] 동적 서블릿 경로 O(1)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D9488"/>
                </a:solidFill>
                <a:latin typeface="Consolas"/>
              </a:defRPr>
            </a:pPr>
            <a:r>
              <a:t>조회 대상: dynamicPolicies.get(uri)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@Reference로 동적 바인딩된 서블릿의 sling.servlet.paths 경로를 O(1) 및 Selector/확장자 경계로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2 매칭 성공 로그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639312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3] Sling ResourceType O(1) 일치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F46E5"/>
                </a:solidFill>
                <a:latin typeface="Consolas"/>
              </a:defRPr>
            </a:pPr>
            <a:r>
              <a:t>조회 대상: exactResourceTypePolicies.get(rt)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SlingHttpServletRequest의 Resource.getResourceType()과 정확히 일치하는 정책을 O(1)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3 매칭 성공 로그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3639312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4] 정규식 · 하위경로 · 리소스 계층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D97706"/>
                </a:solidFill>
                <a:latin typeface="Consolas"/>
              </a:defRPr>
            </a:pPr>
            <a:r>
              <a:t>조회 대상: patternAndHierarchyPolicies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와일드카드/정규식 타겟(^/aemapi/v1/.*) 또는 resource.isResourceType() 상위 계층 일치 검사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4 매칭 성공 로그 출력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886200"/>
            <a:ext cx="363931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5] 동적 서블릿 정규식/계층 매칭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7C3AED"/>
                </a:solidFill>
                <a:latin typeface="Consolas"/>
              </a:defRPr>
            </a:pPr>
            <a:r>
              <a:t>조회 대상: dynamicPolicies.values()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동적 바인딩된 서블릿 중 정규식 패턴이나 리소스 타입 상속 구조를 가진 정책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5 매칭 성공 로그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3886200"/>
            <a:ext cx="363931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6] 기본 정책 폴백 (Fallback)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7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16A34A"/>
                </a:solidFill>
                <a:latin typeface="Consolas"/>
              </a:defRPr>
            </a:pPr>
            <a:r>
              <a:t>조회 대상: defaultPolicy (target=DEFAULT)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개별 정책이 없는 서블릿 요청에도 defaultPolicy(abc.com, GET/POST, 기본 파라미터 규칙)를 강제 적용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6 매칭 성공 로그 출력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08. VALIDATOR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RefererPolicyValidator — 출처(Referer) 검증 및 CSRF 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기본 허용 도메인(defaultReferrer) + 서블릿별 허용 도메인(allowedReferrers)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09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RefererPolicyValidator 동작 원리 및 지원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검증 목적: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신뢰된 자사 도메인(예: abc.com) 또는 지정된 파트너 도메인에서 발생한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외부 악성 페이지를 통한 CSRF 공격 및 무단 API 호출/스크래핑 차단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도메인 합산 검증 구조: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- 1순위: 전역/기본 도메인 (default.referrer = 'abc.com')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- 2순위: 서블릿별 추가 허용 도메인 (security.allowedReferrers)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다양한 매칭 방식 지원 (isRefererAllowed):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일반 도메인: 'abc.com' 설정 시 'abc.com' 및 모든 서브도메인('www.abc.com', 'm.abc.com') 자동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와일드카드 도메인: '*.partner.co.kr' -&gt; 서브도메인 및 루트 도메인 매칭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전체 URL 접두사: 'https://partner.com/app/' -&gt; 해당 경로 하위에서 유입된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4) 정규식 패턴: '^https://([a-z0-9-]+\.)?trusted\.org(/.*)?$'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403 Forbidden (ErrorCode: SEC-40303)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9260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RefererPolicyValidator 핵심 검증 로직 및 BlockedByConfig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 = request.getHeader("Referer");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(StringUtils.isBlank(referer))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blockedConfig = "defaultReferrer=" + defaultReferrer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allowedReferrers=" + policy.getAllowedReferrers()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requestReferer=MISSING";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SecurityErrorCode.REFERER_INVALID, blockedConfig, ...);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refererHost = extractHost(referer);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defaultReferrer('abc.com')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(isRefererAllowed(refererLower, refererHost, defaultReferrer))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policy.getAllowedReferrers() 목록 중 하나라도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(String allowed : policy.getAllowedReferrers())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(isRefererAllowed(refererLower, refererHost, allowed))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434840"/>
            <a:ext cx="5559552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434840"/>
            <a:ext cx="5559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보안 질문 FAQ: 브라우저에서 Referer 헤더 위조가 가능한가?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873752"/>
            <a:ext cx="526694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일반 사용자의 웹 브라우저 환경에서는 Fetch/XHR 호출 시 Referer가 Forbidden Header로 지정되어 자바스크립트로 임의 도메인 위조가 불가능합니다 (CSRF 방어에 효과적).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단, 브라우저가 아닌 서버 간 호출(curl, Postman, Python 스크립트)에서는 헤더 조작이 가능하므로, 중요 상태 변경 API는 인증/권한 및 파라미터 검증과 함께 다계층으로 방어합니다.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09. VALIDATOR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MethodPolicyValidator — HTTP Method 화이트리스트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및 경로별 허용 HTTP 메소드 강제 및 Verb Tampering 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10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MethodPolicyValidator 핵심 기능 및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화이트리스트 기반 HTTP 메소드 검증: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허용 가능한 표준 메소드: GET, POST, PUT, DELETE, PATCH, HEAD, OPTIONS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설정 시 오타나 비표준 메소드가 입력되면 init() 단계에서 즉시 검증 오류 발생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O(1) 대문자 해시셋(upperMethods) 매칭: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매 요청마다 리스트를 순회하지 않고 사전 초기화된 Set&lt;String&gt;에서 O(1)로 즉시 판별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유연한 설정 수준: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전역 기본값: default.methods = ["GET", "POST"]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서블릿 공통 설정: security.methods = "POST"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다중 경로 서블릿 경로별 설정: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   security.methods = ["/aemapi/order/inquiry:GET", "/aemapi/order/cancel:POST"]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405 Method Not Allowed (ErrorCode: SEC-40501)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MethodPolicyValidator 검증 코드 및 통과/차단 로그 출력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@Override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ValidationResult validate(HttpServletRequest request,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ServletPolicyRule policy, ServletSecurityConfig rootConfig)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method = request.getMethod();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LOG.debug("[METHOD] HTTP 메소드 검증 시작 - target=[{}], 요청 메소드=[{}], 허용 메소드={}",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policy.getTarget(), method, policy.getMethods());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(!policy.isMethodAllowed(method))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String blockedConfig = "allowedMethods=" + policy.getMethods()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+ ", requestMethod=" + method;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LOG.debug("[METHOD] 허용되지 않은 HTTP 메소드로 차단 - target=[{}], BlockedByConfig=[{}]",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policy.getTarget(), blockedConfig);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SecurityErrorCode.METHOD_NOT_ALLOWED,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blockedConfig,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"Method [" + method + "] not allowed for target [" + policy.getTarget() + "]",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method);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[차단 시 WARN 로그 출력 예시]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SECURITY VIOLATION BLOCKED: ... Validator=[METHOD], Status=[405], ErrorCode=[SEC-40501]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BlockedByConfig=[allowedMethods=[POST], requestMethod=DELETE]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AppliedServletPolicy=[source=UserContactServlet, target=/aemapi/user/contact, methods=[POST], ...]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10. VALIDATOR #3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ParamPolicyValidator — 6단계 심층 파라미터 보안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화이트리스트 파라미터 통제부터 SQL/JCR2 인젝션 · XSS · Path Traversal 방어까지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11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64592" cy="15727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39" y="1435608"/>
            <a:ext cx="1417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SEC-40001 (400)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1단계: 필수 파라미터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rule.isRequired() == true 인 파라미터가 누락되었거나 빈 문자열인 경우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BlockedByConfig: param=userId, required=true, actualValue=MISSING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164592" cy="15727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39" y="1435608"/>
            <a:ext cx="1417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SEC-40002 (400)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2단계: 미정의 파라미터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allowUndefinedParams=false(기본값)일 때 정책에 정의되지 않은 파라미터 유입 시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Mass Assignment 및 불필요한 공격 페이로드 유입 원천 봉쇄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44952"/>
            <a:ext cx="164592" cy="15727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39" y="3154680"/>
            <a:ext cx="1417320" cy="2743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SEC-40007 (400)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3단계: Path Traversal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../, ..\, %2e%2e%2f, 이중 URL 인코딩(%252e), 세미콜론 우회(..;/), Null Byte(%00) 탐지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파일 다운로드/경로 조회 서블릿의 상위 디렉토리 탈취 공격 방어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44952"/>
            <a:ext cx="164592" cy="15727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149839" y="3154680"/>
            <a:ext cx="1417320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SEC-40008 (400)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4단계: SQL &amp; JCR2/XPath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표준 RDBMS SQLi(UNION SELECT, OR 1=1, SLEEP/BENCHMARK)뿐만 아니라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AEM 전용 JCR-SQL2(ISDESCENDANTNODE, [nt:base]) 및 XPath(/jcr:root/) 공격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64024"/>
            <a:ext cx="164592" cy="15727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34839" y="4873752"/>
            <a:ext cx="1417320" cy="2743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SEC-40009 (400)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5단계: XSS 공격 패턴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&lt;script&gt;, &lt;iframe&gt;, &lt;svg/img onerror=...&gt;, javascript:, vbscript:, eval(), document.cookie,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HTML 엔티티 인코딩(&amp;lt;script&amp;gt;, &amp;#x3c;) 우회 공격까지 다중 디코딩 후 탐지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764024"/>
            <a:ext cx="164592" cy="15727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49839" y="4873752"/>
            <a:ext cx="1417320" cy="2743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SEC-40003~5 (400)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6단계: 길이 및 정규식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minLength / maxLength 글자 수 범위 검사 및 사전 컴파일된 정규식(compiledPattern) 매칭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정규식 문법 오류 시 SEC-40005 반환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11.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및 서블릿 적용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복잡한 JSON 없이 직관적인 한 줄 DSL로 서블릿 보안 규칙 선언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12064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120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48463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(parseSimpleParamSpec)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482803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기본 형식: "파라미터명:필수여부:타입/패턴:길이범위"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필수 여부 토큰: required (필수) | optional (선택, 기본값)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길이 지정 토큰: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범위 지정: 2..20 (minLength=2, maxLength=20)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단일 숫자: 50 (maxLength=50) / min:4 / max:100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내장 타입 별칭 (자동 정규식 변환):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digits / number : ^[0-9]+$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alnum : ^[a-zA-Z0-9_]+$  |  alpha : ^[a-zA-Z]+$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korean / hangul : ^[가-힣a-zA-Z\s]+$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email : 이메일 정규식 (기본 max 100)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phone : ^01[016789]-?\d{3,4}-?\d{4}$ (기본 max 13)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date (YYYY-MM-DD) | datetime | time | uuid | ip | url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Enum 선택지: asc|desc 또는 profile|settings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커스텀 정규식: pattern(^ORD_[0-9]+$)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325880"/>
            <a:ext cx="5971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32588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35331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1: 단일 경로 서블릿 (@Component 프로퍼티 선언)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673352"/>
            <a:ext cx="5715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"sling.servlet.paths=/aemapi/user/contact",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"security.allowedReferrers=partner.abc.com",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"security.params=name:required:2..20:korean",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"security.params=email:required:email:50",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"security.params=phone:optional:phone",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"security.params=message:required:1..500"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UserContactServlet extends SlingAllMethodsServlet { ...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3931920"/>
            <a:ext cx="597103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393192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395935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2: 복수 경로(Multi-Path) 서블릿의 경로별 차등 보안 정책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4279392"/>
            <a:ext cx="571500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"sling.servlet.paths=/aemapi/order/inquiry",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"sling.servlet.paths=/aemapi/order/cancel",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경로별 허용 HTTP Method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"security.methods=/aemapi/order/inquiry:GET",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"security.methods=/aemapi/order/cancel:POST",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모든 경로 공통 필수 파라미터 + 경로 전용 파라미터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"security.params=orderId:required:pattern(^ORD_[0-9]{3,10}$):15",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"security.params=/aemapi/order/cancel:reason:optional:100"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MultiPathOrderServlet extends SlingAllMethodsServlet { ...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12. OSGI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.config 전역 설정 구조 및 장애 복원력(Resilience)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com.example.security.filters.SecurityFilter.config 상세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760720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76072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353312"/>
            <a:ext cx="5504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ui.config — com.example.security.filters.SecurityFilter.config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673352"/>
            <a:ext cx="5504688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1. 필터 마스터 스위치 및 대상 경로 정규식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sling.filter.pattern="(/aemapi/.*|/sysapi/.*)"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2. 핵심 3대 Validator 전역 On/Off 스위치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validator.referer.enabled=B"true"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validator.method.enabled=B"true"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validator.param.enabled=B"true"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3. 기본 보안 정책 (Default Policy - 모든 서블릿에 기본 상속)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default.referrer="abc.com"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default.methods=["GET","POST"]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default.blockSqlInjection=B"true"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default.blockXss=B"true"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default.allowUndefinedParams=B"false"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default.params=[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"page:optional:digits:5",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"size:optional:digits:4",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"sort:optional:alnum:30",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"order:optional:asc|desc:4",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"lang:optional:pattern(^[a-zA-Z]{2}(?:-[a-zA-Z0-9]{2,})?$):10",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"keyword:optional:100"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]</a:t>
            </a:r>
          </a:p>
          <a:p>
            <a:br/>
            <a:pPr>
              <a:defRPr sz="950">
                <a:solidFill>
                  <a:srgbClr val="E2E8F0"/>
                </a:solidFill>
                <a:latin typeface="Consolas"/>
              </a:defRPr>
            </a:pPr>
            <a:r>
              <a:t># 4. 개별 서블릿 정책 무시 및 글로벌 기본 정책 강제 여부</a:t>
            </a:r>
            <a:br/>
            <a:r>
              <a:t>default.ignoreServletPolicies=B"false"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5330952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5330952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.config 타입 접두사(B"true") 완벽 호환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1764792"/>
            <a:ext cx="50383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Apache Felix Configuration Admin의 .config 파일 문법에서는 Boolean 타입을 B"true" / B"false"로 표기합니다.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OSGi 런타임이 이를 boolean으로 변환하여 주입하며, 문자열로 전달되는 환경에서도 SecurityFilter.toBoolean()이 B"true"와 "true"를 모두 안전하게 파싱합니다.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validator.referer.enabled, validator.method.enabled, validator.param.enabled 토글을 통해 운영 중 특정 검증기를 재배포 없이 즉시 On/Off 할 수 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3309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31920"/>
            <a:ext cx="53309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설정 오류 방어 및 무중단 복원력 (handleConfigFailure)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70832"/>
            <a:ext cx="50383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Fail-Fast 설정 검증 (validate):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허용되지 않는 HTTP 메소드명, 잘못된 정규식 문법, minLength &gt; maxLength 역전 등을 init() 시점에 즉시 검증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Last Known Good (이전 정상 설정 유지):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운영 중 잘못된 OSGi 설정이 배포되어 파싱 예외가 발생하더라도 서비스가 중단되지 않고 직전 정상 설정(Last Known Good)을 그대로 유지하며 CRITICAL 에러 로그를 남깁니다.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13. OBSERVABILITY &amp;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단계별 디버그 로깅 및 차단 원인(BlockedByConfig) 상세 추적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바인딩 로그 노이즈는 제거하고, 요청 검증·차단 시에는 적용 정책과 차단 규칙을 명확히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11000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로깅 설계 핵심 원칙 3가지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109819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1) 서블릿 바인딩/언바인딩 로그 출력 완전 차단 : bindServlet / unbindServlet / registerDynamicPolicy 에서는 디버그 로그를 출력하지 않아 기동·배포 시 로그 폭증 방지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2) 주요 검증 흐름 디버그 로그(LOG.debug) : 필터 진입/종료, Tier 1~6 정책 매칭, 각 Validator 실행 및 통과 설정(PassedConfig)을 단계별로 추적 가능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3) 필터 차단 시 상세 정보 출력(LOG.debug &amp; LOG.warn) : 현재 서블릿에 적용된 전체 보안설정(AppliedServletPolicy)과 어떤 설정 규칙에 의해 막혔는지(BlockedByConfig) 동시 출력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74552" cy="31546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19272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실제 로그 출력 예시 (1: 정상 통과 시 DEBUG 로그 / 2: 필터에 막혔을 때 WARN &amp; DEBUG 로그)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39312"/>
            <a:ext cx="11018520" cy="2752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1] 정상 요청 통과 시 (DEBUG 레벨)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--&gt; [FILTER START] Evaluating request: Method=[POST], URI=[/aemapi/user/contact], Query=[null], ClientIP=[127.0.0.1]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[PolicyMatch] Tier 2 (동적 바인딩 서블릿 경로 일치) 매칭 성공: URI=[/aemapi/user/contact] -&gt; target=[/aemapi/user/contact]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Evaluating policy target [/aemapi/user/contact] for [POST /aemapi/user/contact]: AppliedServletPolicy=[source=...UserContactServlet,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[REFERER] PASSED for target [/aemapi/user/contact] | PassedConfig=[defaultReferrer='abc.com', allowedReferrers=[partner.abc.com], requestReferer='https://partner.abc.com/form']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[METHOD] PASSED for target [/aemapi/user/contact] | PassedConfig=[allowedMethods=[POST], requestMethod='POST']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[PARAM] PASSED for target [/aemapi/user/contact] | PassedConfig=[allowUndefinedParams=false, blockSqlInjection=true, blockXss=true,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&lt;-- [FILTER PASS] Request [POST /aemapi/user/contact] passed all security validations (Referer, Method, Param).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2] 보안 정책 위반으로 필터에 막혔을 때 (WARN 레벨 — 어떤 설정에 막혔는지 + 서블릿의 현재 보안 설정 전체 출력)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SECURITY VIOLATION BLOCKED: Client IP=[127.0.0.1], Method=[POST], URI=[/aemapi/user/contact], Validator=[PARAM], Status=[400], ErrorCode=[SEC-40003],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Reason=[Parameter [name] length (1) &lt; min (2)]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BlockedByConfig=[param=name, minLength=2, actualLength=1, rule={required=true, len=2..20, pattern='^[가-힣a-zA-Z\s]+$'}]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AppliedServletPolicy=[source=com.example.security.servlets.UserContactServlet, target=/aemapi/user/contact, methods=[POST],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allowedReferrers=[abc.com, partner.abc.com], blockSqlInjection=true, blockXss=true, allowUndefinedParams=false,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params={name={required=true, len=2..20, pattern='^[가-힣a-zA-Z\s]+$'}, email={required=true, len=0..50, ...}}]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14. ERROR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표준 보안 에러 코드 체계 및 JSON 응답 규격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SecurityErrorCode 열거형 기반 일관된 에러 코드 및 클라이언트 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15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25880"/>
          <a:ext cx="74066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280160"/>
                <a:gridCol w="3931920"/>
              </a:tblGrid>
              <a:tr h="46135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에러 코드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HTTP 상태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검증기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차단 조건 및 BlockedByConfig 출력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REFERER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신뢰되지 않은 Referer 헤더 또는 누락 (defaultReferrer, allowedReferrers, requestReferer)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SEC-40501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허용되지 않은 HTTP Method 호출 (allowedMethods, requestMethod)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필수(required=true) 파라미터 누락 또는 빈 값 (param, required=true, actualValue=MISSING)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정책에 정의되지 않은 파라미터 전달 (param, allowUndefinedParams=false, definedParams)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최소 길이(minLength) 미달 (param, minLength, actualLength,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최대 길이(maxLength) 초과 (param, maxLength, actualLength, rule)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정규식 패턴(pattern) 불일치 또는 잘못된 정규식 (param, pattern, actualValue)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경로 조작(Path Traversal: ../, %2e%2e, %00) 패턴 탐지 (param, allowPathTraversal=false)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SQL / AEM JCR-SQL2 / XPath 인젝션 패턴 탐지 (param, blockSqlInjection=true)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크로스 사이트 스크립팅(XSS: &lt;script&gt;, onerror= 등) 탐지 (param, blockXss=true)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46720" y="1325880"/>
            <a:ext cx="3685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685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35331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클라이언트 JSON 에러 응답 포맷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673352"/>
            <a:ext cx="3429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HTTP/1.1 400 Bad Request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Content-Type: application/json;charset=UTF-8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"code": 400,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"errorCode": "SEC-40003",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"message": "Parameter 'name' must be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at least 2 characters long."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931920"/>
            <a:ext cx="368503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931920"/>
            <a:ext cx="368503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977640"/>
            <a:ext cx="341071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단위 테스트 검증 현황 (TestRunner)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370832"/>
            <a:ext cx="3392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SqlAndXssValidationTest : 13개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표준 SQLi, UNION, Blind SQLi, JCR-SQL2, XPath, XSS 태그/이벤트/인코딩 우회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PathTraversalValidationTest : 8개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../, ..\, URL 인코딩, 이중 인코딩, ..;/, Null Byte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SecurityFilterTest : 9개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Referer/Method/Param 통합 검증, 다중 경로 서블릿, BlockedByConfig &amp; AppliedServletPolicy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총 30개 단위 테스트 100% 통과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2402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03. ARCHITECTURE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다이어그램 (System Architecture)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OSGi 설정 · 동적 서블릿 바인딩 · 6단계 정책 매칭 · 3대 검증기 체인 통합 아키텍처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61872"/>
            <a:ext cx="196596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61872"/>
            <a:ext cx="196596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298448"/>
            <a:ext cx="185623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[Client] 웹 브라우저 / 외부 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664208"/>
            <a:ext cx="1828800" cy="1600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2000"/>
              </a:lnSpc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HTTP/HTTPS 요청 유입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URI: /aemapi/*, /sysapi/*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Method: GET, POST, ...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Header: Referer, Origin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Header: X-Forwarded-For</a:t>
            </a:r>
          </a:p>
          <a:p>
            <a:pPr algn="l">
              <a:lnSpc>
                <a:spcPct val="122000"/>
              </a:lnSpc>
              <a:defRPr sz="830" b="0">
                <a:solidFill>
                  <a:srgbClr val="475569"/>
                </a:solidFill>
                <a:latin typeface="Malgun Gothic"/>
              </a:defRPr>
            </a:pPr>
            <a:r>
              <a:t>• Query &amp; Form 파라미터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359152" y="3291840"/>
            <a:ext cx="256032" cy="25603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337560"/>
            <a:ext cx="1024128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요청 인입 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49039"/>
            <a:ext cx="1965960" cy="2852928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49039"/>
            <a:ext cx="1965960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3785615"/>
            <a:ext cx="185623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[Block] 차단 응답 &amp; 감사 로깅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151376"/>
            <a:ext cx="1828800" cy="2395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defRPr sz="900" b="1">
                <a:solidFill>
                  <a:srgbClr val="DC2626"/>
                </a:solidFill>
                <a:latin typeface="Malgun Gothic"/>
              </a:defRPr>
            </a:pPr>
            <a:r>
              <a:t>[1] Fail-Fast JSON 에러 응답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403 SEC-40303 (Referer)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405 SEC-40501 (Method)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400 SEC-40001~9 (Param)</a:t>
            </a:r>
          </a:p>
          <a:p>
            <a:pPr algn="l">
              <a:lnSpc>
                <a:spcPct val="120000"/>
              </a:lnSpc>
              <a:defRPr sz="900" b="1">
                <a:solidFill>
                  <a:srgbClr val="1E293B"/>
                </a:solidFill>
                <a:latin typeface="Malgun Gothic"/>
              </a:defRPr>
            </a:pPr>
            <a:r>
              <a:t>[2] SLF4J WARN/DEBUG 감사 로그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BlockedByConfig (차단 규칙·값)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AppliedServletPolicy (적용정책)</a:t>
            </a:r>
          </a:p>
          <a:p>
            <a:pPr algn="l">
              <a:lnSpc>
                <a:spcPct val="120000"/>
              </a:lnSpc>
              <a:defRPr sz="819" b="0">
                <a:solidFill>
                  <a:srgbClr val="475569"/>
                </a:solidFill>
                <a:latin typeface="Malgun Gothic"/>
              </a:defRPr>
            </a:pPr>
            <a:r>
              <a:t>• SecurityUtils (IP/CRLF 정제)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2359152" y="5349240"/>
            <a:ext cx="256032" cy="256032"/>
          </a:xfrm>
          <a:prstGeom prst="lef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33472" y="1261872"/>
            <a:ext cx="6720840" cy="1572768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33472" y="1261872"/>
            <a:ext cx="6720840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24912" y="1280160"/>
            <a:ext cx="6537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[Control Plane] AEM 6.5 OSGi Container &amp; Configuration Admin (기동 및 동적 바인딩 계층)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61488" y="1627632"/>
            <a:ext cx="3154680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52928" y="1682496"/>
            <a:ext cx="2971800" cy="23774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OSGi OCD 전역 설정 (SecurityFilter.config)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1947672"/>
            <a:ext cx="3017520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enabled / sling.filter.pattern 정규식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validator.referer|method|param.enabled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default.* (abc.com, GET/POST, 공통 params)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4F46E5"/>
                </a:solidFill>
                <a:latin typeface="Malgun Gothic"/>
              </a:defRPr>
            </a:pPr>
            <a:r>
              <a:t>• default.ignoreServletPolicies (글로벌 강제)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1627632"/>
            <a:ext cx="3163824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44768" y="1682496"/>
            <a:ext cx="2980944" cy="23774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OSGi @Reference 동적 서블릿 감지 (boundServlets)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1947672"/>
            <a:ext cx="3035808" cy="7680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bindServlet() / unbindServlet() 실시간 감지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서블릿 @Component (security.methods/params)</a:t>
            </a:r>
          </a:p>
          <a:p>
            <a:pPr algn="l">
              <a:lnSpc>
                <a:spcPct val="115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inheritFrom(defaultPolicy) 기본 정책 자동 상속</a:t>
            </a:r>
          </a:p>
          <a:p>
            <a:pPr algn="l">
              <a:lnSpc>
                <a:spcPct val="115000"/>
              </a:lnSpc>
              <a:defRPr sz="819" b="0">
                <a:solidFill>
                  <a:srgbClr val="475569"/>
                </a:solidFill>
                <a:latin typeface="Malgun Gothic"/>
              </a:defRPr>
            </a:pPr>
            <a:r>
              <a:t>• 바인딩/언바인딩 시 디버그 로그 노이즈 억제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206240" y="2843784"/>
            <a:ext cx="237744" cy="18288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7498079" y="2843784"/>
            <a:ext cx="237744" cy="18288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633472" y="3035808"/>
            <a:ext cx="672084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33472" y="3035808"/>
            <a:ext cx="6720840" cy="3108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24912" y="3063240"/>
            <a:ext cx="653796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[Runtime Data Plane] SecurityFilter (sling.filter.scope=REQUEST, service.ranking=10000)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61488" y="3438144"/>
            <a:ext cx="2057400" cy="12618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34640" y="3502152"/>
            <a:ext cx="1911095" cy="237744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Stage 1. Fast-Path 패턴 가드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16352" y="3776472"/>
            <a:ext cx="1947672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30" b="0">
                <a:solidFill>
                  <a:srgbClr val="0F172A"/>
                </a:solidFill>
                <a:latin typeface="Malgun Gothic"/>
              </a:defRPr>
            </a:pPr>
            <a:r>
              <a:t>• 필터 enabled 활성화 확인</a:t>
            </a:r>
          </a:p>
          <a:p>
            <a:pPr algn="l">
              <a:lnSpc>
                <a:spcPct val="118000"/>
              </a:lnSpc>
              <a:defRPr sz="830" b="1">
                <a:solidFill>
                  <a:srgbClr val="2563EB"/>
                </a:solidFill>
                <a:latin typeface="Malgun Gothic"/>
              </a:defRPr>
            </a:pPr>
            <a:r>
              <a:t>• matchesFilterPattern(uri)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  (/aemapi/.*|/sysapi/.*)</a:t>
            </a:r>
          </a:p>
          <a:p>
            <a:pPr algn="l">
              <a:lnSpc>
                <a:spcPct val="118000"/>
              </a:lnSpc>
              <a:defRPr sz="830" b="1">
                <a:solidFill>
                  <a:srgbClr val="16A34A"/>
                </a:solidFill>
                <a:latin typeface="Malgun Gothic"/>
              </a:defRPr>
            </a:pPr>
            <a:r>
              <a:t>• 미대상 경로는 즉시 Bypass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855464" y="3950208"/>
            <a:ext cx="201168" cy="219456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93208" y="3438144"/>
            <a:ext cx="4123944" cy="1261872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184648" y="3502152"/>
            <a:ext cx="3941063" cy="23774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Stage 2. 고속 정책 매칭 엔진 (ServletSecurityConfig.findMatchingPolicy)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60" y="3776472"/>
            <a:ext cx="2011680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1">
                <a:solidFill>
                  <a:srgbClr val="4F46E5"/>
                </a:solidFill>
                <a:latin typeface="Malgun Gothic"/>
              </a:defRPr>
            </a:pPr>
            <a:r>
              <a:t>• ignoreServletPolicies=true 시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F46E5"/>
                </a:solidFill>
                <a:latin typeface="Malgun Gothic"/>
              </a:defRPr>
            </a:pPr>
            <a:r>
              <a:t>  ➔ 글로벌 defaultPolicy 즉시 반환</a:t>
            </a:r>
          </a:p>
          <a:p>
            <a:pPr algn="l">
              <a:lnSpc>
                <a:spcPct val="118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• Tier 1: Exact URI 일치 O(1)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2: Base URI (확장자 제거) O(1)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776472"/>
            <a:ext cx="1993392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• Tier 3: Sling ResourceType O(1)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4: 정규식 패턴 (compiledPattern)</a:t>
            </a:r>
          </a:p>
          <a:p>
            <a:pPr algn="l">
              <a:lnSpc>
                <a:spcPct val="118000"/>
              </a:lnSpc>
              <a:defRPr sz="819" b="0">
                <a:solidFill>
                  <a:srgbClr val="0F172A"/>
                </a:solidFill>
                <a:latin typeface="Malgun Gothic"/>
              </a:defRPr>
            </a:pPr>
            <a:r>
              <a:t>• Tier 5: 경로 접두사 / 컴포넌트 경로</a:t>
            </a:r>
          </a:p>
          <a:p>
            <a:pPr algn="l">
              <a:lnSpc>
                <a:spcPct val="118000"/>
              </a:lnSpc>
              <a:defRPr sz="819" b="1">
                <a:solidFill>
                  <a:srgbClr val="0D9488"/>
                </a:solidFill>
                <a:latin typeface="Malgun Gothic"/>
              </a:defRPr>
            </a:pPr>
            <a:r>
              <a:t>• Tier 6: defaultPolicy 안전 폴백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870448" y="4718304"/>
            <a:ext cx="256032" cy="164592"/>
          </a:xfrm>
          <a:prstGeom prst="down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761488" y="4901184"/>
            <a:ext cx="6455664" cy="1591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61488" y="4901184"/>
            <a:ext cx="6455664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4919472"/>
            <a:ext cx="6309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Stage 3. 핵심 3대 PolicyValidator 체인 순차 실행 (Fail-Fast: 위반 시 즉시 차단 / 통과 시 다음 단계)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52928" y="5212080"/>
            <a:ext cx="1901952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907792" y="5257800"/>
            <a:ext cx="1792224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9504" y="5504688"/>
            <a:ext cx="1828800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Referer / Origin 호스트 추출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0D9488"/>
                </a:solidFill>
                <a:latin typeface="Malgun Gothic"/>
              </a:defRPr>
            </a:pPr>
            <a:r>
              <a:t>• defaultReferrer (abc.com)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allowedReferrers 서브도메인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위반: 403 (SEC-40303)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782312" y="5705856"/>
            <a:ext cx="164592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974336" y="5212080"/>
            <a:ext cx="1874519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0" y="5257800"/>
            <a:ext cx="1764792" cy="219456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10912" y="5504688"/>
            <a:ext cx="1801368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요청 HTTP Method 확인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2563EB"/>
                </a:solidFill>
                <a:latin typeface="Malgun Gothic"/>
              </a:defRPr>
            </a:pPr>
            <a:r>
              <a:t>• upperMethods 불변 Set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  O(1) 화이트리스트 조회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위반: 405 (SEC-40501)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6876288" y="5705856"/>
            <a:ext cx="164592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068312" y="5212080"/>
            <a:ext cx="205740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123176" y="5257800"/>
            <a:ext cx="1947672" cy="219456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04888" y="5504688"/>
            <a:ext cx="1984248" cy="8778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필수(40001) / 미정의(40002)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• PathTraversal(40007) 차단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• SQL/JCRi(40008)·XSS(40009)</a:t>
            </a:r>
          </a:p>
          <a:p>
            <a:pPr algn="l">
              <a:lnSpc>
                <a:spcPct val="115000"/>
              </a:lnSpc>
              <a:defRPr sz="800" b="1">
                <a:solidFill>
                  <a:srgbClr val="DC2626"/>
                </a:solidFill>
                <a:latin typeface="Malgun Gothic"/>
              </a:defRPr>
            </a:pPr>
            <a:r>
              <a:t>• 길이/정규식(40003~5) 검증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9381744" y="5349240"/>
            <a:ext cx="256032" cy="256032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674352" y="1261872"/>
            <a:ext cx="2148840" cy="5340096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74352" y="1261872"/>
            <a:ext cx="214884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29216" y="1298448"/>
            <a:ext cx="2039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[Target] 대상 Sling 서블릿 계층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84080" y="1719072"/>
            <a:ext cx="1929384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1755648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900" b="1">
                <a:solidFill>
                  <a:srgbClr val="16A34A"/>
                </a:solidFill>
                <a:latin typeface="Malgun Gothic"/>
              </a:defRPr>
            </a:pPr>
            <a:r>
              <a:t>FilterChain.doFilter()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PassedConfig DEBUG 기록</a:t>
            </a:r>
          </a:p>
          <a:p>
            <a:pPr algn="l">
              <a:lnSpc>
                <a:spcPct val="118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• 검증 완료된 안전한 요청만 전달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0634472" y="2523744"/>
            <a:ext cx="219456" cy="164592"/>
          </a:xfrm>
          <a:prstGeom prst="down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784080" y="2724912"/>
            <a:ext cx="1929384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838944" y="2779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단일 경로 서블릿 (@Component)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0656" y="3017520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50" b="1">
                <a:solidFill>
                  <a:srgbClr val="2563EB"/>
                </a:solidFill>
                <a:latin typeface="Malgun Gothic"/>
              </a:defRPr>
            </a:pPr>
            <a:r>
              <a:t>UserContactServlet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/aemapi/user/contact</a:t>
            </a:r>
          </a:p>
          <a:p>
            <a:pPr algn="l">
              <a:lnSpc>
                <a:spcPct val="115000"/>
              </a:lnSpc>
              <a:defRPr sz="800" b="0">
                <a:solidFill>
                  <a:srgbClr val="475569"/>
                </a:solidFill>
                <a:latin typeface="Malgun Gothic"/>
              </a:defRPr>
            </a:pPr>
            <a:r>
              <a:t>• POST / DSL 파라미터 검증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784080" y="3867912"/>
            <a:ext cx="1929384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38944" y="3922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다중 경로 서블릿 (Multi-Path)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0656" y="4160520"/>
            <a:ext cx="1856231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defRPr sz="850" b="1">
                <a:solidFill>
                  <a:srgbClr val="0D9488"/>
                </a:solidFill>
                <a:latin typeface="Malgun Gothic"/>
              </a:defRPr>
            </a:pPr>
            <a:r>
              <a:t>MultiPathOrderServlet</a:t>
            </a:r>
          </a:p>
          <a:p>
            <a:pPr algn="l">
              <a:lnSpc>
                <a:spcPct val="115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/aemapi/order/inquiry (GET)</a:t>
            </a:r>
          </a:p>
          <a:p>
            <a:pPr algn="l">
              <a:lnSpc>
                <a:spcPct val="115000"/>
              </a:lnSpc>
              <a:defRPr sz="780" b="0">
                <a:solidFill>
                  <a:srgbClr val="0F172A"/>
                </a:solidFill>
                <a:latin typeface="Malgun Gothic"/>
              </a:defRPr>
            </a:pPr>
            <a:r>
              <a:t>• /aemapi/order/cancel (POST)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010912"/>
            <a:ext cx="1929384" cy="14447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838944" y="5065776"/>
            <a:ext cx="1819656" cy="201168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AEM JCR &amp; OSGi 비즈니스 로직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20656" y="5303520"/>
            <a:ext cx="1856231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미선언 일반 서블릿도</a:t>
            </a:r>
          </a:p>
          <a:p>
            <a:pPr algn="l">
              <a:lnSpc>
                <a:spcPct val="116000"/>
              </a:lnSpc>
              <a:defRPr sz="800" b="1">
                <a:solidFill>
                  <a:srgbClr val="4F46E5"/>
                </a:solidFill>
                <a:latin typeface="Malgun Gothic"/>
              </a:defRPr>
            </a:pPr>
            <a:r>
              <a:t>  defaultPolicy로 자동 보호</a:t>
            </a:r>
          </a:p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JCR ResourceResolver 쿼리</a:t>
            </a:r>
          </a:p>
          <a:p>
            <a:pPr algn="l">
              <a:lnSpc>
                <a:spcPct val="116000"/>
              </a:lnSpc>
              <a:defRPr sz="800" b="0">
                <a:solidFill>
                  <a:srgbClr val="0F172A"/>
                </a:solidFill>
                <a:latin typeface="Malgun Gothic"/>
              </a:defRPr>
            </a:pPr>
            <a:r>
              <a:t>• OSGi Service 안전 호출</a:t>
            </a:r>
          </a:p>
          <a:p>
            <a:pPr algn="l">
              <a:lnSpc>
                <a:spcPct val="116000"/>
              </a:lnSpc>
              <a:defRPr sz="819" b="1">
                <a:solidFill>
                  <a:srgbClr val="16A34A"/>
                </a:solidFill>
                <a:latin typeface="Malgun Gothic"/>
              </a:defRPr>
            </a:pPr>
            <a:r>
              <a:t>• 정상 200 OK 응답 반환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2402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04. LIFECYCLE &amp;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필터 생명주기 및 처리 흐름도 (activate · bindServlet · doFilter)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기동 및 설정 로드(Phase 1) · 서블릿 동적 감지(Phase 2) · 실시간 요청 검증(Phase 3) 시퀀스 다이어그램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05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25296"/>
            <a:ext cx="1417320" cy="4572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11095" y="1243584"/>
            <a:ext cx="1344168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OSGi Container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94A3B8"/>
                </a:solidFill>
                <a:latin typeface="Malgun Gothic"/>
              </a:defRPr>
            </a:pPr>
            <a:r>
              <a:t>AEM / Felix SCR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225296"/>
            <a:ext cx="1353312" cy="457200"/>
          </a:xfrm>
          <a:prstGeom prst="roundRect">
            <a:avLst>
              <a:gd name="adj" fmla="val 4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243584"/>
            <a:ext cx="128016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Web Client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Browser / API 호출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225296"/>
            <a:ext cx="1691640" cy="45720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1243584"/>
            <a:ext cx="1618488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SecurityFilter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Sling REQUEST 필터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5976" y="1225296"/>
            <a:ext cx="1783080" cy="45720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02552" y="1243584"/>
            <a:ext cx="1709928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ServletSecurityConfig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정책 컨테이너 / 인덱스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58784" y="1225296"/>
            <a:ext cx="1691640" cy="457200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59" y="1243584"/>
            <a:ext cx="1618488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3대 Validator 체인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Referer·Method·Param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60152" y="1225296"/>
            <a:ext cx="1444752" cy="457200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96728" y="1243584"/>
            <a:ext cx="137160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defRPr sz="919" b="1">
                <a:solidFill>
                  <a:srgbClr val="FFFFFF"/>
                </a:solidFill>
                <a:latin typeface="Malgun Gothic"/>
              </a:defRPr>
            </a:pPr>
            <a:r>
              <a:t>대상 Sling 서블릿</a:t>
            </a:r>
          </a:p>
          <a:p>
            <a:pPr algn="ctr">
              <a:lnSpc>
                <a:spcPct val="110000"/>
              </a:lnSpc>
              <a:defRPr sz="750" b="0">
                <a:solidFill>
                  <a:srgbClr val="FFFFFF"/>
                </a:solidFill>
                <a:latin typeface="Malgun Gothic"/>
              </a:defRPr>
            </a:pPr>
            <a:r>
              <a:t>비즈니스 로직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1755648"/>
            <a:ext cx="9985248" cy="1408176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72207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7251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99455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46543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93631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71555" y="1783080"/>
            <a:ext cx="21945" cy="13533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1755648"/>
            <a:ext cx="1417320" cy="14081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1755648"/>
            <a:ext cx="1417320" cy="2560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2336" y="1783080"/>
            <a:ext cx="1344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PHASE 1. 기동/설정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2039112"/>
            <a:ext cx="132588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defRPr sz="880" b="1">
                <a:solidFill>
                  <a:srgbClr val="2563EB"/>
                </a:solidFill>
                <a:latin typeface="Malgun Gothic"/>
              </a:defRPr>
            </a:pPr>
            <a:r>
              <a:t>@Activate / @Modified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OSGi 설정 로드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정규식 사전 컴파일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defaultPolicy 생성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Last Known Good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83179" y="1975104"/>
            <a:ext cx="3127248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7460" y="1947672"/>
            <a:ext cx="91440" cy="9144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5545836" y="1911095"/>
            <a:ext cx="164592" cy="16459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92908" y="1801368"/>
            <a:ext cx="283464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738627" y="1847088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9524" y="1810512"/>
            <a:ext cx="243230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activate(Config config) 호출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sling.filter.pattern 정규식 사전 컴파일 (updateFilterPattern)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0428" y="2414016"/>
            <a:ext cx="1847088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64708" y="2386584"/>
            <a:ext cx="91440" cy="9144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7392924" y="2350008"/>
            <a:ext cx="164592" cy="16459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30668" y="2240280"/>
            <a:ext cx="40690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676388" y="2286000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87284" y="2249424"/>
            <a:ext cx="36667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buildDefaultPolicy(config) &amp; newConfig.init()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default.* 기본 정책 생성, 검증기 On/Off 토글, ignoreServletPolicies 설정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0428" y="2852928"/>
            <a:ext cx="1847088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64708" y="2825496"/>
            <a:ext cx="91440" cy="9144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7392924" y="2788920"/>
            <a:ext cx="164592" cy="16459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30668" y="2679192"/>
            <a:ext cx="40690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676388" y="2724912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87284" y="2688336"/>
            <a:ext cx="36667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기존 boundServlets 순회 ➔ registerDynamicPolicy(rule)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필터보다 먼저 등록된 서블릿들에 새 defaultPolicy 상속 및 동기화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28800" y="3236976"/>
            <a:ext cx="9985248" cy="987552"/>
          </a:xfrm>
          <a:prstGeom prst="roundRect">
            <a:avLst>
              <a:gd name="adj" fmla="val 4000"/>
            </a:avLst>
          </a:prstGeom>
          <a:solidFill>
            <a:srgbClr val="F0FDFA"/>
          </a:solidFill>
          <a:ln w="1270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72207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67251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99455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46543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393631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071555" y="3264408"/>
            <a:ext cx="21945" cy="9326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65760" y="3236976"/>
            <a:ext cx="1417320" cy="9875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3236976"/>
            <a:ext cx="141732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2336" y="3264408"/>
            <a:ext cx="1344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PHASE 2. 동적 감지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520440"/>
            <a:ext cx="1325880" cy="6766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defRPr sz="880" b="1">
                <a:solidFill>
                  <a:srgbClr val="0D9488"/>
                </a:solidFill>
                <a:latin typeface="Malgun Gothic"/>
              </a:defRPr>
            </a:pPr>
            <a:r>
              <a:t>@Reference 바인딩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bindServlet 감지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defaultPolicy 상속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O(1) 인덱스 등록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83179" y="3456432"/>
            <a:ext cx="3127248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537460" y="3429000"/>
            <a:ext cx="91440" cy="9144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ight Arrow 62"/>
          <p:cNvSpPr/>
          <p:nvPr/>
        </p:nvSpPr>
        <p:spPr>
          <a:xfrm>
            <a:off x="5545836" y="3392424"/>
            <a:ext cx="164592" cy="16459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783580" y="3282696"/>
            <a:ext cx="40690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29300" y="3328416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40196" y="3291840"/>
            <a:ext cx="36667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bindServlet(servlet, properties)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isApplicableServlet() 필터 패턴 일치 확인 후 boundServlets 저장 (로그 미출력)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10428" y="3895344"/>
            <a:ext cx="1847088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664708" y="3867911"/>
            <a:ext cx="91440" cy="9144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7392924" y="3831335"/>
            <a:ext cx="164592" cy="16459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630668" y="3721607"/>
            <a:ext cx="40690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676388" y="3767327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87284" y="3730752"/>
            <a:ext cx="36667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fromOsgiProperties(props, defaultPolicy) ➔ registerDynamicPolicy()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서블릿 security.* 파싱 + inheritFrom(defaultPolicy) 상속 후 O(1) 맵 인덱싱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828800" y="4297680"/>
            <a:ext cx="9985248" cy="232257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270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572207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067251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99455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546543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393631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071555" y="4325112"/>
            <a:ext cx="21945" cy="22677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365760" y="4297680"/>
            <a:ext cx="1417320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4297680"/>
            <a:ext cx="1417320" cy="2560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2336" y="4325112"/>
            <a:ext cx="1344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80" b="1">
                <a:solidFill>
                  <a:srgbClr val="FFFFFF"/>
                </a:solidFill>
                <a:latin typeface="Malgun Gothic"/>
              </a:defRPr>
            </a:pPr>
            <a:r>
              <a:t>PHASE 3. 요청 검증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4581144"/>
            <a:ext cx="1325880" cy="20116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4000"/>
              </a:lnSpc>
              <a:defRPr sz="880" b="1">
                <a:solidFill>
                  <a:srgbClr val="4F46E5"/>
                </a:solidFill>
                <a:latin typeface="Malgun Gothic"/>
              </a:defRPr>
            </a:pPr>
            <a:r>
              <a:t>doFilter() 실시간 실행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Fast-Path 가드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6단계 정책 매칭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3대 검증기 체인</a:t>
            </a:r>
          </a:p>
          <a:p>
            <a:pPr algn="l">
              <a:lnSpc>
                <a:spcPct val="114000"/>
              </a:lnSpc>
              <a:defRPr sz="760" b="0">
                <a:solidFill>
                  <a:srgbClr val="0F172A"/>
                </a:solidFill>
                <a:latin typeface="Malgun Gothic"/>
              </a:defRPr>
            </a:pPr>
            <a:r>
              <a:t>• 통과 vs 즉시 차단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078224" y="4517136"/>
            <a:ext cx="1632204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032504" y="4489704"/>
            <a:ext cx="91440" cy="91440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ight Arrow 85"/>
          <p:cNvSpPr/>
          <p:nvPr/>
        </p:nvSpPr>
        <p:spPr>
          <a:xfrm>
            <a:off x="5545836" y="4453128"/>
            <a:ext cx="164592" cy="164592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783580" y="4343400"/>
            <a:ext cx="38404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29300" y="4389120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0196" y="4352544"/>
            <a:ext cx="34381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doFilter(request, response, chain)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1차 Bypass 가드: enabled 여부 및 matchesFilterPattern(requestUri) 확인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710428" y="4956048"/>
            <a:ext cx="1847088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664708" y="4928616"/>
            <a:ext cx="91440" cy="91440"/>
          </a:xfrm>
          <a:prstGeom prst="roundRect">
            <a:avLst>
              <a:gd name="adj" fmla="val 4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ight Arrow 91"/>
          <p:cNvSpPr/>
          <p:nvPr/>
        </p:nvSpPr>
        <p:spPr>
          <a:xfrm>
            <a:off x="7392924" y="4892040"/>
            <a:ext cx="164592" cy="164592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30668" y="4782312"/>
            <a:ext cx="40690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76388" y="4828031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87284" y="4791456"/>
            <a:ext cx="36667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findMatchingPolicy(request) ➔ matchedPolicy 반환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ignoreServletPolicies 체크 또는 Tier 1~6(URI ➔ ResourceType ➔ Regex ➔ Default) 탐색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710428" y="5394960"/>
            <a:ext cx="3694176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664708" y="5367528"/>
            <a:ext cx="91440" cy="91440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ight Arrow 97"/>
          <p:cNvSpPr/>
          <p:nvPr/>
        </p:nvSpPr>
        <p:spPr>
          <a:xfrm>
            <a:off x="9240012" y="5330952"/>
            <a:ext cx="164592" cy="164592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20156" y="5221224"/>
            <a:ext cx="338328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5865876" y="5266944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76772" y="5230368"/>
            <a:ext cx="298094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validate(req, matchedPolicy, config) — 3대 검증기 순차 실행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1. Referer(403) ➔ 2. Method(405) ➔ 3. Param(400 SEC-40001~9)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10428" y="5852160"/>
            <a:ext cx="5372100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664708" y="5824728"/>
            <a:ext cx="91440" cy="91440"/>
          </a:xfrm>
          <a:prstGeom prst="roundRect">
            <a:avLst>
              <a:gd name="adj" fmla="val 4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ight Arrow 103"/>
          <p:cNvSpPr/>
          <p:nvPr/>
        </p:nvSpPr>
        <p:spPr>
          <a:xfrm>
            <a:off x="10917936" y="5788152"/>
            <a:ext cx="164592" cy="164592"/>
          </a:xfrm>
          <a:prstGeom prst="rightArrow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820156" y="5678424"/>
            <a:ext cx="466344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5865876" y="5724144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9A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76772" y="5687568"/>
            <a:ext cx="4261103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[검증 통과 PASS] chain.doFilter(request, response) 서블릿 실행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PassedConfig 디버그 로깅 후 대상 서블릿 비즈니스 로직 정상 수행 (200 OK)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078224" y="6309360"/>
            <a:ext cx="1632204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5664708" y="6281928"/>
            <a:ext cx="91440" cy="91440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Left Arrow 109"/>
          <p:cNvSpPr/>
          <p:nvPr/>
        </p:nvSpPr>
        <p:spPr>
          <a:xfrm>
            <a:off x="4078224" y="6245352"/>
            <a:ext cx="164592" cy="164592"/>
          </a:xfrm>
          <a:prstGeom prst="left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783580" y="6135624"/>
            <a:ext cx="4114800" cy="338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829300" y="6181344"/>
            <a:ext cx="274320" cy="228600"/>
          </a:xfrm>
          <a:prstGeom prst="roundRect">
            <a:avLst>
              <a:gd name="adj" fmla="val 2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800" b="1">
                <a:solidFill>
                  <a:srgbClr val="FFFFFF"/>
                </a:solidFill>
                <a:latin typeface="Malgun Gothic"/>
              </a:defRPr>
            </a:pPr>
            <a:r>
              <a:t>9B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40196" y="6144768"/>
            <a:ext cx="3712463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defRPr sz="819" b="1">
                <a:solidFill>
                  <a:srgbClr val="0F172A"/>
                </a:solidFill>
                <a:latin typeface="Malgun Gothic"/>
              </a:defRPr>
            </a:pPr>
            <a:r>
              <a:t>[검증 실패 FAIL-FAST] handleSecurityViolation() 즉시 차단 응답</a:t>
            </a:r>
          </a:p>
          <a:p>
            <a:pPr algn="l">
              <a:lnSpc>
                <a:spcPct val="105000"/>
              </a:lnSpc>
              <a:defRPr sz="730" b="0">
                <a:solidFill>
                  <a:srgbClr val="475569"/>
                </a:solidFill>
                <a:latin typeface="Malgun Gothic"/>
              </a:defRPr>
            </a:pPr>
            <a:r>
              <a:t>BlockedByConfig + AppliedServletPolicy WARN 로깅 &amp; JSON 에러 반환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05. CLASS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87552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핵심 클래스 다이어그램 및 데이터 모델 관계도 (UML Class Diagram)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78638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com.example.security 패키지 전체 클래스 · 인터페이스 · 열거형 구조 및 객체 간 관계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lnSpc>
                <a:spcPct val="118000"/>
              </a:lnSpc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06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25296"/>
            <a:ext cx="26974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25296"/>
            <a:ext cx="269748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243584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94A3B8"/>
                </a:solidFill>
                <a:latin typeface="Consolas"/>
              </a:defRPr>
            </a:pPr>
            <a:r>
              <a:t>«OSGi @Component Filter»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636776"/>
            <a:ext cx="2606040" cy="10012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filterPattern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compiledFilterPattern : Pattern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servletSecurityConfig : ServletSecurityConfig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boundServlets : Map&lt;Servlet, Map&gt;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validators : List&lt;PolicyValidator&gt;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647187"/>
            <a:ext cx="2660904" cy="109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665475"/>
            <a:ext cx="2606040" cy="9646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activate(Config) / deactivate()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bindServlet(Servlet, Map)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unbindServlet(Servlet, Map)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doFilter(req, res, chain)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- evaluatePoliciesAndFindActive()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- handleSecurityViolation(...) : void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1627632" y="3666744"/>
            <a:ext cx="182880" cy="164592"/>
          </a:xfrm>
          <a:prstGeom prst="down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10512" y="3639312"/>
            <a:ext cx="12344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334155"/>
                </a:solidFill>
                <a:latin typeface="Malgun Gothic"/>
              </a:defRPr>
            </a:pPr>
            <a:r>
              <a:t>@Designate 주입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49624"/>
            <a:ext cx="269748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849624"/>
            <a:ext cx="2697480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3867911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«@ObjectClassDefinition»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SecurityFilter.Config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261104"/>
            <a:ext cx="2606040" cy="10607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enabled()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sling_filter_pattern()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validator_referer|method|param_enabled()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default_referrer() / default_methods()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default_blockSqlInjection() / blockXss()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default_params() : String[]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+ default_ignoreServletPolicies() : boolean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422392"/>
            <a:ext cx="26974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5422392"/>
            <a:ext cx="2697480" cy="384048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440679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«Utility»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SecurityUtils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33872"/>
            <a:ext cx="260604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getClientIp(HttpServletRequest)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sanitizeForLog(String) : String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90672" y="2148840"/>
            <a:ext cx="246888" cy="201168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44952" y="1920240"/>
            <a:ext cx="365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0D9488"/>
                </a:solidFill>
                <a:latin typeface="Malgun Gothic"/>
              </a:defRPr>
            </a:pPr>
            <a:r>
              <a:t>1 보유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1225296"/>
            <a:ext cx="29260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64992" y="1225296"/>
            <a:ext cx="292608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1568" y="1243584"/>
            <a:ext cx="28529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«Root Config Container»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ServletSecurityConfig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1636776"/>
            <a:ext cx="2834640" cy="12873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defaultReferrer : String = "abc.com"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ignoreServletPolicies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defaultPolicy : ServletPolicyRule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policies : List&lt;ServletPolicyRule&gt;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dynamicExactUriMap : Map&lt;String, 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dynamicResourceTypeMap : Map&lt;String, 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dynamicPatternPolicies : List&lt;Rule&gt;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validatorStatusMap : Map&lt;String, Boolean&gt;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2933264"/>
            <a:ext cx="2889504" cy="109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0712" y="2951552"/>
            <a:ext cx="2834640" cy="678615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findMatchingPolicy(req) : ServletPolicyRule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registerDynamicPolicy(rule)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unregisterDynamicPolicy(target)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isValidatorEnabled(name) : boolean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4736592" y="3666744"/>
            <a:ext cx="182880" cy="164592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3639312"/>
            <a:ext cx="14173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2563EB"/>
                </a:solidFill>
                <a:latin typeface="Malgun Gothic"/>
              </a:defRPr>
            </a:pPr>
            <a:r>
              <a:t>1 default / 0..* policies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3849624"/>
            <a:ext cx="29260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64992" y="3849624"/>
            <a:ext cx="2926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867911"/>
            <a:ext cx="28529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«Policy Model»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ServletPolicyRule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4261104"/>
            <a:ext cx="2834640" cy="106351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target : String / enabled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methods : List&lt;String&gt; (upperMethods : Set)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defaultReferrer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allowedReferrers : List&lt;String&gt;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allowUndefinedParams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blockSqlInjection / blockXss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params : Map&lt;String, ParamRule&gt;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5333765"/>
            <a:ext cx="2889504" cy="109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10712" y="5352053"/>
            <a:ext cx="2834640" cy="87501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/ validate(errors)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matches(HttpServletRequest)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inheritFrom(ServletPolicyRule)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isMethodAllowed(String)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fromOsgiProperties(props, default) : List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parseSimpleParamSpec(spec) : Entry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318504" y="1691640"/>
            <a:ext cx="237744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1444752"/>
            <a:ext cx="3840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4F46E5"/>
                </a:solidFill>
                <a:latin typeface="Malgun Gothic"/>
              </a:defRPr>
            </a:pPr>
            <a:r>
              <a:t>1..3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0" y="1225296"/>
            <a:ext cx="26974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83680" y="1225296"/>
            <a:ext cx="269748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0256" y="1243584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«Strategy Interface»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PolicyValidator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1636776"/>
            <a:ext cx="26060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getName()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isEnabled(policy, rootConfig)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validate(req, policy, cfg) : ValidationResult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describePassedConfig(...) : String</a:t>
            </a:r>
          </a:p>
        </p:txBody>
      </p:sp>
      <p:sp>
        <p:nvSpPr>
          <p:cNvPr id="47" name="Up Arrow 46"/>
          <p:cNvSpPr/>
          <p:nvPr/>
        </p:nvSpPr>
        <p:spPr>
          <a:xfrm>
            <a:off x="7845552" y="2322576"/>
            <a:ext cx="182880" cy="164592"/>
          </a:xfrm>
          <a:prstGeom prst="up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2295144"/>
            <a:ext cx="12344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4F46E5"/>
                </a:solidFill>
                <a:latin typeface="Malgun Gothic"/>
              </a:defRPr>
            </a:pPr>
            <a:r>
              <a:t>implements (3)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80" y="2505456"/>
            <a:ext cx="2697480" cy="13258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1651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656832" y="2560320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1. RefererPolicyValidator ("REFERER")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56832" y="2770632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isRefererAllowed() / extractHost / isDomainMatched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56832" y="2980944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2. MethodPolicyValidator ("METHOD")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3191256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validate() -&gt; policy.isMethodAllowed(method)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56832" y="3401568"/>
            <a:ext cx="2551176" cy="201168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>
              <a:defRPr sz="780" b="1">
                <a:solidFill>
                  <a:srgbClr val="FFFFFF"/>
                </a:solidFill>
                <a:latin typeface="Malgun Gothic"/>
              </a:defRPr>
            </a:pPr>
            <a:r>
              <a:t>3. ParamPolicyValidator ("PARAM")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56832" y="3611880"/>
            <a:ext cx="255117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00" b="0">
                <a:solidFill>
                  <a:srgbClr val="0F172A"/>
                </a:solidFill>
                <a:latin typeface="Consolas"/>
              </a:defRPr>
            </a:pPr>
            <a:r>
              <a:t>+ isPathTraversal / isSqlInjection / isXssAttack()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6318504" y="4983480"/>
            <a:ext cx="237744" cy="201168"/>
          </a:xfrm>
          <a:prstGeom prst="rightArrow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4736592"/>
            <a:ext cx="347472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50" b="1">
                <a:solidFill>
                  <a:srgbClr val="4F46E5"/>
                </a:solidFill>
                <a:latin typeface="Malgun Gothic"/>
              </a:defRPr>
            </a:pPr>
            <a:r>
              <a:t>0..*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3849624"/>
            <a:ext cx="2697480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583680" y="3849624"/>
            <a:ext cx="269748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20256" y="3867911"/>
            <a:ext cx="2624328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«Parameter Model»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ParamRule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4261104"/>
            <a:ext cx="2606040" cy="14813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enabled : Boolean = true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required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minLength : Integer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maxLength : Integer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pattern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compiledPattern : Pattern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allowPathTraversal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allowSqlInjection : Boolean = false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allowXss : Boolean = false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01968" y="5751576"/>
            <a:ext cx="2660904" cy="109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5769864"/>
            <a:ext cx="26060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init() : void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validate(paramName, target, errors)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toSummaryString() : String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9299448" y="1691640"/>
            <a:ext cx="237744" cy="20116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53728" y="1463040"/>
            <a:ext cx="329184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720" b="1">
                <a:solidFill>
                  <a:srgbClr val="D97706"/>
                </a:solidFill>
                <a:latin typeface="Malgun Gothic"/>
              </a:defRPr>
            </a:pPr>
            <a:r>
              <a:t>반환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555480" y="1225296"/>
            <a:ext cx="2267712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55480" y="1225296"/>
            <a:ext cx="2267712" cy="3840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92055" y="1243584"/>
            <a:ext cx="2194560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«Immutable Result DTO»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ValidationResult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1636776"/>
            <a:ext cx="2176272" cy="10012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valid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statusCode : int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errorCode : SecurityErrorCode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blockedConfig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violationDetail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- responseMessage : String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73767" y="2647187"/>
            <a:ext cx="2231136" cy="109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01200" y="2665475"/>
            <a:ext cx="2176272" cy="9646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ok() : ValidationResult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error(code, detail, args...)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errorWithConfig(code, cfg, ...)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isValid() : boolean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getSubCode() : String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getBlockedConfig() : String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10597896" y="3666744"/>
            <a:ext cx="182880" cy="164592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808208" y="3639312"/>
            <a:ext cx="100584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defRPr sz="750" b="1">
                <a:solidFill>
                  <a:srgbClr val="DC2626"/>
                </a:solidFill>
                <a:latin typeface="Malgun Gothic"/>
              </a:defRPr>
            </a:pPr>
            <a:r>
              <a:t>에러코드 참조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555480" y="3849624"/>
            <a:ext cx="2267712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778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55480" y="3849624"/>
            <a:ext cx="2267712" cy="38404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92055" y="3867911"/>
            <a:ext cx="2194560" cy="36575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02000"/>
              </a:lnSpc>
              <a:defRPr sz="720" b="0">
                <a:solidFill>
                  <a:srgbClr val="FFFFFF"/>
                </a:solidFill>
                <a:latin typeface="Consolas"/>
              </a:defRPr>
            </a:pPr>
            <a:r>
              <a:t>«Standard Error Enum»</a:t>
            </a:r>
          </a:p>
          <a:p>
            <a:pPr algn="ctr">
              <a:lnSpc>
                <a:spcPct val="102000"/>
              </a:lnSpc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SecurityErrorCode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01200" y="4261104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REFERER_UNTRUSTED (40303)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METHOD_NOT_ALLOWED (40501)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PARAM_REQUIRED (40001)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PARAM_UNDEFINED (40002)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PARAM_TOO_SHORT (40003)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PARAM_TOO_LONG (40004)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PARAM_INVALID_FORMAT (40005)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PARAM_PATH_TRAVERSAL (40007)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PARAM_SQL_INJECTION (40008)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0F172A"/>
                </a:solidFill>
                <a:latin typeface="Consolas"/>
              </a:defRPr>
            </a:pPr>
            <a:r>
              <a:t>PARAM_XSS (40009)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573767" y="5833872"/>
            <a:ext cx="2231136" cy="109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601200" y="5852159"/>
            <a:ext cx="2176272" cy="3749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getHttpStatus() / getSubCode()</a:t>
            </a:r>
          </a:p>
          <a:p>
            <a:pPr algn="l">
              <a:lnSpc>
                <a:spcPct val="110000"/>
              </a:lnSpc>
              <a:defRPr sz="740" b="0">
                <a:solidFill>
                  <a:srgbClr val="334155"/>
                </a:solidFill>
                <a:latin typeface="Consolas"/>
              </a:defRPr>
            </a:pPr>
            <a:r>
              <a:t>+ format(Object...) : String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65760" y="6309360"/>
            <a:ext cx="11457432" cy="32918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5488" y="6355080"/>
            <a:ext cx="112471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defRPr sz="830" b="1">
                <a:solidFill>
                  <a:srgbClr val="FFFFFF"/>
                </a:solidFill>
                <a:latin typeface="Malgun Gothic"/>
              </a:defRPr>
            </a:pPr>
            <a:r>
              <a:t>[관계 요약]  SecurityFilter (1) ➔ (1) ServletSecurityConfig (1..*) ➔ ServletPolicyRule (0..*) ➔ ParamRule   |   SecurityFilter (1) ➔ (3) PolicyValidator (Referer · Method · Param) ➔ ValidationResult ➔ SecurityErrorCode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