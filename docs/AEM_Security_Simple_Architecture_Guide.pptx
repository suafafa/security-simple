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347472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AEM 6.5 Lightweight 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AEM 경량 보안 필터 (security-simple)</a:t>
            </a:r>
          </a:p>
          <a:p>
            <a:pPr>
              <a:spcBef>
                <a:spcPts val="800"/>
              </a:spcBef>
              <a:defRPr sz="3000" b="1">
                <a:solidFill>
                  <a:srgbClr val="60A5FA"/>
                </a:solidFill>
                <a:latin typeface="Malgun Gothic"/>
              </a:defRPr>
            </a:pPr>
            <a:r>
              <a:t>아키텍처 설계 및 핵심 기능 기술서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Malgun Gothic"/>
              </a:defRPr>
            </a:pPr>
            <a:r>
              <a:t>Referer · HTTP Method · Parameter 3대 핵심 보안 검증기를 기반으로</a:t>
            </a:r>
            <a:br/>
            <a:r>
              <a:t>OSGi 동적 서블릿 바인딩, 기본 정책(Default Policy) 상속, 상세 감사 로깅을 제공하는 고성능 Sling 보안 필터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434840"/>
            <a:ext cx="3337560" cy="16916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434840"/>
            <a:ext cx="333756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1. RefererPolicyValidator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892040"/>
            <a:ext cx="3063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2E8F0"/>
                </a:solidFill>
                <a:latin typeface="Malgun Gothic"/>
              </a:defRPr>
            </a:pPr>
            <a:r>
              <a:t>신뢰 도메인(abc.com) 및 서블릿별 허용 Referer 검증</a:t>
            </a:r>
            <a:br/>
            <a:r>
              <a:t>외부 사이트 경유 CSRF 및 무단 API 호출 차단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434840"/>
            <a:ext cx="3337560" cy="16916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4434840"/>
            <a:ext cx="33375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2. MethodPolicyValidator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892040"/>
            <a:ext cx="3063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2E8F0"/>
                </a:solidFill>
                <a:latin typeface="Malgun Gothic"/>
              </a:defRPr>
            </a:pPr>
            <a:r>
              <a:t>허용된 HTTP Method 화이트리스트(O(1) Set) 검증</a:t>
            </a:r>
            <a:br/>
            <a:r>
              <a:t>비인가 메소드(DELETE, PUT 등) 호출 원천 차단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434840"/>
            <a:ext cx="3337560" cy="16916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4434840"/>
            <a:ext cx="333756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3. ParamPolicyValidator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39" y="4892040"/>
            <a:ext cx="3063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2E8F0"/>
                </a:solidFill>
                <a:latin typeface="Malgun Gothic"/>
              </a:defRPr>
            </a:pPr>
            <a:r>
              <a:t>필수/미정의 파라미터 통제, 길이·정규식·DSL 검증</a:t>
            </a:r>
            <a:br/>
            <a:r>
              <a:t>Path Traversal · SQL/JCR2 Injection · XSS 방어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0116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01.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추진 배경 및 경량화 아키텍처 설계 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01168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algun Gothic"/>
              </a:defRPr>
            </a:pPr>
            <a:r>
              <a:t>핵심 보안 위협 방어와 고성능·운영 편의성의 균형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02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576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36576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3383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1. 핵심 3대 검증기 중심 경량화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764792"/>
            <a:ext cx="33649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• 기존 다중 Validator 구조를 가장 실질적인 웹 API 공격 표면인 3대 검증기로 일원화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  1) RefererPolicyValidator (출처 도메인 검증)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  2) MethodPolicyValidator (HTTP 메소드 통제)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  3) ParamPolicyValidator (파라미터 심층 검증)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• 불필요한 필터 오버헤드(세션/토큰/레이트리밋/리스폰스 래핑 등) 제거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• 코드 복잡도 대폭 감소 및 유지보수성 극대화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• 모든 클래스/메소드 한글 Javadoc 및 단계별 디버그 로깅 완비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325880"/>
            <a:ext cx="36576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1325880"/>
            <a:ext cx="365760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1371600"/>
            <a:ext cx="3383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2. 선언적 보안 설정 &amp; 정책 자동 상속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764792"/>
            <a:ext cx="33649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• 중앙 집중형 기본 정책 (SecurityFilter.config)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  - 기본 Referer(abc.com), 기본 Method(GET, POST), 공통 페이징/검색 파라미터(page, size, keyword 등) 일괄 정의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• 서블릿 컴포넌트 선언적 바인딩 (@Component)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  - 각 서블릿이 security.methods, security.params 등 필요한 항목만 선언하면 OSGi가 자동 감지·등록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• 계층적 상속 (inheritFrom)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  - 서블릿에 미지정된 설정은 defaultPolicy에서 자동 상속받으며, 명시한 항목만 오버라이드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1325880"/>
            <a:ext cx="36576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4152" y="1325880"/>
            <a:ext cx="365760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371600"/>
            <a:ext cx="3383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3. 고성능 매칭 &amp; 정밀한 감사/디버그 로깅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1764792"/>
            <a:ext cx="33649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• O(1) 해시 캐시 및 사전 컴파일 정규식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  - ConcurrentHashMap 기반 경로/리소스타입 O(1) 조회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  - 모든 정규식(타겟 패턴, 파라미터 패턴, SQLi/XSS 시그니처) 초기화 시 1회 사전 컴파일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• 차단 시 즉각적인 원인 파악 로깅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  - BlockedByConfig: 차단을 유발한 정확한 설정 규칙과 요청 입력값 출력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  - AppliedServletPolicy: 서블릿에 적용된 전체 보안 정책 요약 출력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  <a:latin typeface="Malgun Gothic"/>
              </a:defRPr>
            </a:pPr>
            <a:r>
              <a:t>• 바인딩/언바인딩 로그 노이즈 차단으로 운영 안정성 확보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0116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02.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전체 시스템 아키텍처 및 요청 처리 파이프라인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01168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algun Gothic"/>
              </a:defRPr>
            </a:pPr>
            <a:r>
              <a:t>Sling REQUEST Scope Filter (Ranking 10000) 기반 선제적 방어 흐름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03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1755648" cy="1508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STEP 1</a:t>
            </a:r>
            <a:br/>
            <a:r>
              <a:t>HTTP 요청 유입</a:t>
            </a:r>
          </a:p>
          <a:p>
            <a:pPr algn="ctr">
              <a:spcBef>
                <a:spcPts val="600"/>
              </a:spcBef>
              <a:defRPr sz="950">
                <a:solidFill>
                  <a:srgbClr val="F1F5F9"/>
                </a:solidFill>
                <a:latin typeface="Malgun Gothic"/>
              </a:defRPr>
            </a:pPr>
            <a:r>
              <a:t>Client / Browser</a:t>
            </a:r>
            <a:br/>
            <a:r>
              <a:t>GET·POST /aemapi/...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31136" y="1965960"/>
            <a:ext cx="109728" cy="22860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59152" y="1325880"/>
            <a:ext cx="1755648" cy="1508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STEP 2</a:t>
            </a:r>
            <a:br/>
            <a:r>
              <a:t>Fast-Path 가드</a:t>
            </a:r>
          </a:p>
          <a:p>
            <a:pPr algn="ctr">
              <a:spcBef>
                <a:spcPts val="600"/>
              </a:spcBef>
              <a:defRPr sz="950">
                <a:solidFill>
                  <a:srgbClr val="F1F5F9"/>
                </a:solidFill>
                <a:latin typeface="Malgun Gothic"/>
              </a:defRPr>
            </a:pPr>
            <a:r>
              <a:t>SecurityFilter.doFilter</a:t>
            </a:r>
            <a:br/>
            <a:r>
              <a:t>matchesFilterPattern(uri)</a:t>
            </a:r>
            <a:br/>
            <a:r>
              <a:t>대상 경로만 필터링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33088" y="1965960"/>
            <a:ext cx="109728" cy="22860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61104" y="1325880"/>
            <a:ext cx="1755648" cy="1508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STEP 3</a:t>
            </a:r>
            <a:br/>
            <a:r>
              <a:t>6단계 정책 매칭</a:t>
            </a:r>
          </a:p>
          <a:p>
            <a:pPr algn="ctr">
              <a:spcBef>
                <a:spcPts val="600"/>
              </a:spcBef>
              <a:defRPr sz="950">
                <a:solidFill>
                  <a:srgbClr val="F1F5F9"/>
                </a:solidFill>
                <a:latin typeface="Malgun Gothic"/>
              </a:defRPr>
            </a:pPr>
            <a:r>
              <a:t>ServletSecurityConfig</a:t>
            </a:r>
            <a:br/>
            <a:r>
              <a:t>findMatchingPolicy()</a:t>
            </a:r>
            <a:br/>
            <a:r>
              <a:t>정적/동적/기본정책 조회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35040" y="1965960"/>
            <a:ext cx="109728" cy="22860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3056" y="1325880"/>
            <a:ext cx="1755648" cy="1508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STEP 4</a:t>
            </a:r>
            <a:br/>
            <a:r>
              <a:t>3대 검증기 체인</a:t>
            </a:r>
          </a:p>
          <a:p>
            <a:pPr algn="ctr">
              <a:spcBef>
                <a:spcPts val="600"/>
              </a:spcBef>
              <a:defRPr sz="950">
                <a:solidFill>
                  <a:srgbClr val="F1F5F9"/>
                </a:solidFill>
                <a:latin typeface="Malgun Gothic"/>
              </a:defRPr>
            </a:pPr>
            <a:r>
              <a:t>1. RefererValidator</a:t>
            </a:r>
            <a:br/>
            <a:r>
              <a:t>2. MethodValidator</a:t>
            </a:r>
            <a:br/>
            <a:r>
              <a:t>3. ParamValidator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36992" y="1965960"/>
            <a:ext cx="109728" cy="22860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65008" y="1325880"/>
            <a:ext cx="1755648" cy="15087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STEP 5-A (통과)</a:t>
            </a:r>
            <a:br/>
            <a:r>
              <a:t>서블릿 실행</a:t>
            </a:r>
          </a:p>
          <a:p>
            <a:pPr algn="ctr">
              <a:spcBef>
                <a:spcPts val="600"/>
              </a:spcBef>
              <a:defRPr sz="950">
                <a:solidFill>
                  <a:srgbClr val="F1F5F9"/>
                </a:solidFill>
                <a:latin typeface="Malgun Gothic"/>
              </a:defRPr>
            </a:pPr>
            <a:r>
              <a:t>chain.doFilter()</a:t>
            </a:r>
            <a:br/>
            <a:r>
              <a:t>PassedConfig 디버그 기록</a:t>
            </a:r>
            <a:br/>
            <a:r>
              <a:t>정상 비즈니스 처리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838944" y="1965960"/>
            <a:ext cx="109728" cy="22860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66960" y="1325880"/>
            <a:ext cx="1755648" cy="15087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STEP 5-B (차단)</a:t>
            </a:r>
            <a:br/>
            <a:r>
              <a:t>위반 로깅 &amp; 응답</a:t>
            </a:r>
          </a:p>
          <a:p>
            <a:pPr algn="ctr">
              <a:spcBef>
                <a:spcPts val="600"/>
              </a:spcBef>
              <a:defRPr sz="950">
                <a:solidFill>
                  <a:srgbClr val="F1F5F9"/>
                </a:solidFill>
                <a:latin typeface="Malgun Gothic"/>
              </a:defRPr>
            </a:pPr>
            <a:r>
              <a:t>handleSecurityViolation</a:t>
            </a:r>
            <a:br/>
            <a:r>
              <a:t>BlockedByConfig + Policy</a:t>
            </a:r>
            <a:br/>
            <a:r>
              <a:t>JSON 에러 응답 반환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63240"/>
            <a:ext cx="5532120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063240"/>
            <a:ext cx="553212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108960"/>
            <a:ext cx="5257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핵심 컴포넌트 역할 및 패키지 구조 (com.example.security)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3502152"/>
            <a:ext cx="523951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filters.SecurityFilter : OSGi Sling 서블릿 필터 진입점, 설정 로드, 동적 서블릿 바인딩, 검증 체인 실행 및 위반 응답 처리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models.ServletSecurityConfig : 전체 정책 컨테이너, O(1) 정적/동적 정책 캐시 맵 관리, 6단계 우선순위 정책 매칭 엔진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models.ServletPolicyRule : 서블릿/타겟 단위 보안 규칙 모델, OSGi 프로퍼티/DSL 파서(fromOsgiProperties), defaultPolicy 상속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models.ParamRule : 개별 파라미터 검증 규칙(required, min/maxLength, pattern, allowPathTraversal/SqlInjection/Xss)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validators.* : PolicyValidator 인터페이스 및 Referer / Method / Param 3대 검증기, ValidationResult(blockedConfig 포함)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models.SecurityErrorCode &amp; utils.SecurityUtils : 표준 에러 코드(SEC-40001~40501) 및 클라이언트 IP 추출·로그 개행 치환 유틸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063240"/>
            <a:ext cx="5559552" cy="33832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063240"/>
            <a:ext cx="5559552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216" y="3090672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3C5FD"/>
                </a:solidFill>
                <a:latin typeface="Malgun Gothic"/>
              </a:defRPr>
            </a:pPr>
            <a:r>
              <a:t>SecurityFilter.doFilter() &amp; evaluatePoliciesAndFindActive() 핵심 실행 코드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3410712"/>
            <a:ext cx="5303520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// 1. Fast-Path 경로 가드: 대상 API 경로가 아니면 즉시 통과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if (!matchesFilterPattern(requestUri)) {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chain.doFilter(servletRequest, servletResponse);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return;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// 2. 요청에 매칭되는 서블릿 보안 정책 조회 (Tier 1 ~ Tier 6)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ServletPolicyRule matchedPolicy = servletSecurityConfig.findMatchingPolicy(request);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// 3. 3대 핵심 Validator 체인 순차 실행 (REFERER -&gt; METHOD -&gt; PARAM)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for (PolicyValidator validator : validators) {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if (!validator.isEnabled(matchedPolicy, servletSecurityConfig)) continue;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ValidationResult result = validator.validate(request, matchedPolicy, servletSecurityConfig);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if (!result.isValid()) {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handleSecurityViolation(request, response, matchedPolicy, validator.getName(),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result.getStatusCode(), result.getSubCode(), result.getViolationDetail(),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result.getBlockedConfig(), result.getResponseMessage());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return REJECTED_POLICY;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0116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10. DYNAMIC BINDING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OSGi 동적 서블릿 바인딩 및 기본 정책 상속 메커니즘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01168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algun Gothic"/>
              </a:defRPr>
            </a:pPr>
            <a:r>
              <a:t>서블릿 등록/해제 시 자동 정책 동기화 및 로그 노이즈 억제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11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53212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5321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257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OSGi @Reference 동적 바인딩 (bindServlet / unbindServlet)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764792"/>
            <a:ext cx="523951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@Reference(service = Servlet.class, cardinality = MULTIPLE, policy = DYNAMIC)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AEM 컨테이너 내 서블릿이 시작/종료될 때 SecurityFilter가 자동 감지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선별적 바인딩 (isApplicableServlet):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- 서블릿의 sling.servlet.paths 또는 sling.servlet.resourceTypes가 필터의 sling.filter.pattern 정규식과 일치하는 경우에만 정책 생성 및 등록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바인딩/언바인딩 로그 출력 차단 (Zero Log Noise):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- 수백 개의 서블릿이 기동/재배포될 때 로그가 폭증하지 않도록 bindServlet, unbindServlet, registerDynamicPolicy 내부의 디버그 로그 출력 완전 제거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5559552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5559552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71600"/>
            <a:ext cx="52852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기본 정책 상속 및 병합 규칙 (ServletPolicyRule.inheritFrom)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1764792"/>
            <a:ext cx="52669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1단계: 서블릿의 OSGi 프로퍼티(security.*)로부터 개별 ServletPolicyRule 파싱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2단계: SecurityFilter.config의 defaultPolicy로부터 미지정 속성 자동 상속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- methods: 서블릿에 미지정 시 default.methods([GET, POST]) 상속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- defaultReferrer &amp; allowedReferrers: 기본 도메인(abc.com) 상속 + 서블릿 허용 도메인 병합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- blockSqlInjection / blockXss / allowUndefinedParams: 미지정 시 기본 정책값 상속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- params: default.params(공통 페이징/정렬 규칙)를 기반으로 서블릿 고유 파라미터 규칙 병합 (동일 파라미터명은 서블릿 규칙이 우선)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77639"/>
            <a:ext cx="11274552" cy="24688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77639"/>
            <a:ext cx="11274552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4005071"/>
            <a:ext cx="11018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3C5FD"/>
                </a:solidFill>
                <a:latin typeface="Malgun Gothic"/>
              </a:defRPr>
            </a:pPr>
            <a:r>
              <a:t>정책 상속 및 병합 예시: Default Policy + 개별 서블릿 설정 -&gt; 최종 런타임 적용 정책 (AppliedServletPolicy)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4325111"/>
            <a:ext cx="1101852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[1] Default Policy (SecurityFilter.config)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methods=[GET, POST], defaultReferrer='abc.com', blockSqlInjection=true, blockXss=true, allowUndefinedParams=false,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params={page: digits(5), size: digits(4), sort: alnum(30), order: asc|desc(4), lang: pattern, keyword: max(100)}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▼  inheritFrom(defaultPolicy) 자동 병합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[2] UserProfileServlet (@Component 프로퍼티 선언)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sling.servlet.paths='/aemapi/user/profile', security.methods='GET', security.allowedReferrers='partner.abc.com',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security.params=['userId:required:alnum:4..20', 'tab:optional:profile|settings|activity:15']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▼  최종 생성된 동적 정책 (dynamicPolicies.get('/aemapi/user/profile'))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[3] Effective AppliedServletPolicy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target=/aemapi/user/profile, methods=[GET], allowedReferrers=[abc.com, partner.abc.com], blockSqlInjection=true, blockXss=true,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allowUndefinedParams=false, params={page, size, sort, order, lang, keyword, userId(required,4..20), tab(optional,profile|settings|activity)}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0116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11. POLICY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6단계(Tier 1~6) 우선순위 기반 고속 정책 매칭 엔진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01168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algun Gothic"/>
              </a:defRPr>
            </a:pPr>
            <a:r>
              <a:t>ServletSecurityConfig.findMatchingPolicy(HttpServletRequest) 동작 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12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3931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363931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[Tier 1] 정적 설정 경로 O(1) 일치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828800"/>
            <a:ext cx="33467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2563EB"/>
                </a:solidFill>
                <a:latin typeface="Consolas"/>
              </a:defRPr>
            </a:pPr>
            <a:r>
              <a:t>조회 대상: exactPathPolicies.get(uri)</a:t>
            </a:r>
          </a:p>
          <a:p>
            <a:pPr>
              <a:defRPr sz="1150">
                <a:solidFill>
                  <a:srgbClr val="0F172A"/>
                </a:solidFill>
                <a:latin typeface="Malgun Gothic"/>
              </a:defRPr>
            </a:pPr>
            <a:r>
              <a:t>OSGi 설정에 명시된 정확한 URI 경로(/aemapi/v1/users)를 해시맵에서 O(1)로 즉시 조회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Malgun Gothic"/>
              </a:defRPr>
            </a:pPr>
            <a:r>
              <a:t>LOG.debug: [PolicyMatch] Tier 1 매칭 성공 로그 출력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325880"/>
            <a:ext cx="363931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325880"/>
            <a:ext cx="3639312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[Tier 2] 동적 서블릿 경로 O(1) 일치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828800"/>
            <a:ext cx="33467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0D9488"/>
                </a:solidFill>
                <a:latin typeface="Consolas"/>
              </a:defRPr>
            </a:pPr>
            <a:r>
              <a:t>조회 대상: dynamicPolicies.get(uri)</a:t>
            </a:r>
          </a:p>
          <a:p>
            <a:pPr>
              <a:defRPr sz="1150">
                <a:solidFill>
                  <a:srgbClr val="0F172A"/>
                </a:solidFill>
                <a:latin typeface="Malgun Gothic"/>
              </a:defRPr>
            </a:pPr>
            <a:r>
              <a:t>@Reference로 동적 바인딩된 서블릿의 sling.servlet.paths 경로를 O(1) 및 Selector/확장자 경계로 매칭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Malgun Gothic"/>
              </a:defRPr>
            </a:pPr>
            <a:r>
              <a:t>LOG.debug: [PolicyMatch] Tier 2 매칭 성공 로그 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325880"/>
            <a:ext cx="363931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325880"/>
            <a:ext cx="3639312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[Tier 3] Sling ResourceType O(1) 일치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7" y="1828800"/>
            <a:ext cx="33467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4F46E5"/>
                </a:solidFill>
                <a:latin typeface="Consolas"/>
              </a:defRPr>
            </a:pPr>
            <a:r>
              <a:t>조회 대상: exactResourceTypePolicies.get(rt)</a:t>
            </a:r>
          </a:p>
          <a:p>
            <a:pPr>
              <a:defRPr sz="1150">
                <a:solidFill>
                  <a:srgbClr val="0F172A"/>
                </a:solidFill>
                <a:latin typeface="Malgun Gothic"/>
              </a:defRPr>
            </a:pPr>
            <a:r>
              <a:t>SlingHttpServletRequest의 Resource.getResourceType()과 정확히 일치하는 정책을 O(1) 조회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Malgun Gothic"/>
              </a:defRPr>
            </a:pPr>
            <a:r>
              <a:t>LOG.debug: [PolicyMatch] Tier 3 매칭 성공 로그 출력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86200"/>
            <a:ext cx="363931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3639312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[Tier 4] 정규식 · 하위경로 · 리소스 계층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4389120"/>
            <a:ext cx="33467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D97706"/>
                </a:solidFill>
                <a:latin typeface="Consolas"/>
              </a:defRPr>
            </a:pPr>
            <a:r>
              <a:t>조회 대상: patternAndHierarchyPolicies</a:t>
            </a:r>
          </a:p>
          <a:p>
            <a:pPr>
              <a:defRPr sz="1150">
                <a:solidFill>
                  <a:srgbClr val="0F172A"/>
                </a:solidFill>
                <a:latin typeface="Malgun Gothic"/>
              </a:defRPr>
            </a:pPr>
            <a:r>
              <a:t>와일드카드/정규식 타겟(^/aemapi/v1/.*) 또는 resource.isResourceType() 상위 계층 일치 검사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Malgun Gothic"/>
              </a:defRPr>
            </a:pPr>
            <a:r>
              <a:t>LOG.debug: [PolicyMatch] Tier 4 매칭 성공 로그 출력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3886200"/>
            <a:ext cx="363931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9392" y="3886200"/>
            <a:ext cx="3639312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[Tier 5] 동적 서블릿 정규식/계층 매칭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389120"/>
            <a:ext cx="33467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7C3AED"/>
                </a:solidFill>
                <a:latin typeface="Consolas"/>
              </a:defRPr>
            </a:pPr>
            <a:r>
              <a:t>조회 대상: dynamicPolicies.values()</a:t>
            </a:r>
          </a:p>
          <a:p>
            <a:pPr>
              <a:defRPr sz="1150">
                <a:solidFill>
                  <a:srgbClr val="0F172A"/>
                </a:solidFill>
                <a:latin typeface="Malgun Gothic"/>
              </a:defRPr>
            </a:pPr>
            <a:r>
              <a:t>동적 바인딩된 서블릿 중 정규식 패턴이나 리소스 타입 상속 구조를 가진 정책 매칭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Malgun Gothic"/>
              </a:defRPr>
            </a:pPr>
            <a:r>
              <a:t>LOG.debug: [PolicyMatch] Tier 5 매칭 성공 로그 출력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3886200"/>
            <a:ext cx="363931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3" y="3886200"/>
            <a:ext cx="3639312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[Tier 6] 기본 정책 폴백 (Fallback)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7" y="4389120"/>
            <a:ext cx="33467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6A34A"/>
                </a:solidFill>
                <a:latin typeface="Consolas"/>
              </a:defRPr>
            </a:pPr>
            <a:r>
              <a:t>조회 대상: defaultPolicy (target=DEFAULT)</a:t>
            </a:r>
          </a:p>
          <a:p>
            <a:pPr>
              <a:defRPr sz="1150">
                <a:solidFill>
                  <a:srgbClr val="0F172A"/>
                </a:solidFill>
                <a:latin typeface="Malgun Gothic"/>
              </a:defRPr>
            </a:pPr>
            <a:r>
              <a:t>개별 정책이 없는 서블릿 요청에도 defaultPolicy(abc.com, GET/POST, 기본 파라미터 규칙)를 강제 적용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Malgun Gothic"/>
              </a:defRPr>
            </a:pPr>
            <a:r>
              <a:t>LOG.debug: [PolicyMatch] Tier 6 매칭 성공 로그 출력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0116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12. VALIDATOR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RefererPolicyValidator — 출처(Referer) 검증 및 CSRF 방어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01168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algun Gothic"/>
              </a:defRPr>
            </a:pPr>
            <a:r>
              <a:t>기본 허용 도메인(defaultReferrer) + 서블릿별 허용 도메인(allowedReferrers)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13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53212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53212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257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RefererPolicyValidator 동작 원리 및 지원 패턴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764792"/>
            <a:ext cx="52395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검증 목적: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- 신뢰된 자사 도메인(예: abc.com) 또는 지정된 파트너 도메인에서 발생한 요청만 허용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- 외부 악성 페이지를 통한 CSRF 공격 및 무단 API 호출/스크래핑 차단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도메인 합산 검증 구조: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- 1순위: 전역/기본 도메인 (default.referrer = 'abc.com')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- 2순위: 서블릿별 추가 허용 도메인 (security.allowedReferrers)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다양한 매칭 방식 지원 (isRefererAllowed):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1) 일반 도메인: 'abc.com' 설정 시 'abc.com' 및 모든 서브도메인('www.abc.com', 'm.abc.com') 자동 허용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2) 와일드카드 도메인: '*.partner.co.kr' -&gt; 서브도메인 및 루트 도메인 매칭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3) 전체 URL 접두사: 'https://partner.com/app/' -&gt; 해당 경로 하위에서 유입된 요청만 허용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4) 정규식 패턴: '^https://([a-z0-9-]+\.)?trusted\.org(/.*)?$'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차단 시 에러 응답: HTTP 403 Forbidden (ErrorCode: SEC-40303)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5559552" cy="29260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5559552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1353312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3C5FD"/>
                </a:solidFill>
                <a:latin typeface="Malgun Gothic"/>
              </a:defRPr>
            </a:pPr>
            <a:r>
              <a:t>RefererPolicyValidator 핵심 검증 로직 및 BlockedByConfig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1673352"/>
            <a:ext cx="5303520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String referer = request.getHeader("Referer");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if (StringUtils.isBlank(referer)) {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String blockedConfig = "defaultReferrer=" + defaultReferrer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+ ", allowedReferrers=" + policy.getAllowedReferrers()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+ ", requestReferer=MISSING";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return ValidationResult.errorWithConfig(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SecurityErrorCode.REFERER_INVALID, blockedConfig, ...);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String refererHost = extractHost(referer);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// 1. defaultReferrer('abc.com') 일치 시 통과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if (isRefererAllowed(refererLower, refererHost, defaultReferrer))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return ValidationResult.ok();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// 2. policy.getAllowedReferrers() 목록 중 하나라도 일치 시 통과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for (String allowed : policy.getAllowedReferrers()) {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if (isRefererAllowed(refererLower, refererHost, allowed))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return ValidationResult.ok();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434840"/>
            <a:ext cx="5559552" cy="1965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4434840"/>
            <a:ext cx="5559552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480560"/>
            <a:ext cx="52852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보안 질문 FAQ: 브라우저에서 Referer 헤더 위조가 가능한가?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4873752"/>
            <a:ext cx="52669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일반 사용자의 웹 브라우저 환경에서는 Fetch/XHR 호출 시 Referer가 Forbidden Header로 지정되어 자바스크립트로 임의 도메인 위조가 불가능합니다 (CSRF 방어에 효과적).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단, 브라우저가 아닌 서버 간 호출(curl, Postman, Python 스크립트)에서는 헤더 조작이 가능하므로, 중요 상태 변경 API는 인증/권한 및 파라미터 검증과 함께 다계층으로 방어합니다.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0116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13. VALIDATOR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MethodPolicyValidator — HTTP Method 화이트리스트 통제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01168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algun Gothic"/>
              </a:defRPr>
            </a:pPr>
            <a:r>
              <a:t>서블릿 및 경로별 허용 HTTP 메소드 강제 및 Verb Tampering 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14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53212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5321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257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MethodPolicyValidator 핵심 기능 및 특징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764792"/>
            <a:ext cx="52395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화이트리스트 기반 HTTP 메소드 검증: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- 허용 가능한 표준 메소드: GET, POST, PUT, DELETE, PATCH, HEAD, OPTIONS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- 설정 시 오타나 비표준 메소드가 입력되면 init() 단계에서 즉시 검증 오류 발생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O(1) 대문자 해시셋(upperMethods) 매칭: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- 매 요청마다 리스트를 순회하지 않고 사전 초기화된 Set&lt;String&gt;에서 O(1)로 즉시 판별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유연한 설정 수준: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1) 전역 기본값: default.methods = ["GET", "POST"]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2) 서블릿 공통 설정: security.methods = "POST"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3) 다중 경로 서블릿 경로별 설정: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     security.methods = ["/aemapi/order/inquiry:GET", "/aemapi/order/cancel:POST"]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차단 시 에러 응답: HTTP 405 Method Not Allowed (ErrorCode: SEC-40501)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5559552" cy="507492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5559552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1353312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3C5FD"/>
                </a:solidFill>
                <a:latin typeface="Malgun Gothic"/>
              </a:defRPr>
            </a:pPr>
            <a:r>
              <a:t>MethodPolicyValidator 검증 코드 및 통과/차단 로그 출력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1673352"/>
            <a:ext cx="5303520" cy="4672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@Override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public ValidationResult validate(HttpServletRequest request,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ServletPolicyRule policy, ServletSecurityConfig rootConfig) {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String method = request.getMethod();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LOG.debug("[METHOD] HTTP 메소드 검증 시작 - target=[{}], 요청 메소드=[{}], 허용 메소드={}",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policy.getTarget(), method, policy.getMethods());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if (!policy.isMethodAllowed(method)) {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String blockedConfig = "allowedMethods=" + policy.getMethods()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+ ", requestMethod=" + method;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LOG.debug("[METHOD] 허용되지 않은 HTTP 메소드로 차단 - target=[{}], BlockedByConfig=[{}]",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policy.getTarget(), blockedConfig);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return ValidationResult.errorWithConfig(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SecurityErrorCode.METHOD_NOT_ALLOWED,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blockedConfig,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"Method [" + method + "] not allowed for target [" + policy.getTarget() + "]",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method);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return ValidationResult.ok();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// [차단 시 WARN 로그 출력 예시]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// SECURITY VIOLATION BLOCKED: ... Validator=[METHOD], Status=[405], ErrorCode=[SEC-40501]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// | BlockedByConfig=[allowedMethods=[POST], requestMethod=DELETE]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// | AppliedServletPolicy=[source=UserContactServlet, target=/aemapi/user/contact, methods=[POST], ...]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0116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14. VALIDATOR 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ParamPolicyValidator — 6단계 심층 파라미터 보안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01168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algun Gothic"/>
              </a:defRPr>
            </a:pPr>
            <a:r>
              <a:t>화이트리스트 파라미터 통제부터 SQL/JCR2 인젝션 · XSS · Path Traversal 방어까지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15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55955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64592" cy="15727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39" y="1435608"/>
            <a:ext cx="141732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onsolas"/>
              </a:defRPr>
            </a:pPr>
            <a:r>
              <a:t>SEC-40001 (400)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1732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1단계: 필수 파라미터 검증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• rule.isRequired() == true 인 파라미터가 누락되었거나 빈 문자열인 경우 즉시 차단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• BlockedByConfig: param=userId, required=true, actualValue=MISSING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555955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164592" cy="15727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49839" y="1435608"/>
            <a:ext cx="1417320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onsolas"/>
              </a:defRPr>
            </a:pPr>
            <a:r>
              <a:t>SEC-40002 (400)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41732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2단계: 미정의 파라미터 차단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• allowUndefinedParams=false(기본값)일 때 정책에 정의되지 않은 파라미터 유입 시 즉시 차단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• Mass Assignment 및 불필요한 공격 페이로드 유입 원천 봉쇄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44952"/>
            <a:ext cx="555955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044952"/>
            <a:ext cx="164592" cy="15727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34839" y="3154680"/>
            <a:ext cx="1417320" cy="2743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onsolas"/>
              </a:defRPr>
            </a:pPr>
            <a:r>
              <a:t>SEC-40007 (400)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36392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3단계: Path Traversal 차단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• ../, ..\, %2e%2e%2f, 이중 URL 인코딩(%252e), 세미콜론 우회(..;/), Null Byte(%00) 탐지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• 파일 다운로드/경로 조회 서블릿의 상위 디렉토리 탈취 공격 방어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044952"/>
            <a:ext cx="555955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044952"/>
            <a:ext cx="164592" cy="15727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149839" y="3154680"/>
            <a:ext cx="1417320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onsolas"/>
              </a:defRPr>
            </a:pPr>
            <a:r>
              <a:t>SEC-40008 (400)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136392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4단계: SQL &amp; JCR2/XPath 차단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• 표준 RDBMS SQLi(UNION SELECT, OR 1=1, SLEEP/BENCHMARK)뿐만 아니라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• AEM 전용 JCR-SQL2(ISDESCENDANTNODE, [nt:base]) 및 XPath(/jcr:root/) 공격 차단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764024"/>
            <a:ext cx="555955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764024"/>
            <a:ext cx="164592" cy="15727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39" y="4873752"/>
            <a:ext cx="1417320" cy="2743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onsolas"/>
              </a:defRPr>
            </a:pPr>
            <a:r>
              <a:t>SEC-40009 (400)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55464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5단계: XSS 공격 패턴 차단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• &lt;script&gt;, &lt;iframe&gt;, &lt;svg/img onerror=...&gt;, javascript:, vbscript:, eval(), document.cookie,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• HTML 엔티티 인코딩(&amp;lt;script&amp;gt;, &amp;#x3c;) 우회 공격까지 다중 디코딩 후 탐지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764024"/>
            <a:ext cx="555955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764024"/>
            <a:ext cx="164592" cy="15727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49839" y="4873752"/>
            <a:ext cx="1417320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onsolas"/>
              </a:defRPr>
            </a:pPr>
            <a:r>
              <a:t>SEC-40003~5 (400)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855464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6단계: 길이 및 정규식 검증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• minLength / maxLength 글자 수 범위 검사 및 사전 컴파일된 정규식(compiledPattern) 매칭</a:t>
            </a:r>
          </a:p>
          <a:p>
            <a:pPr>
              <a:spcAft>
                <a:spcPts val="20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• 정규식 문법 오류 시 SEC-40005 반환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0116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15. DEVELOPER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간편 파라미터 DSL 문법 및 서블릿 적용 예제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01168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algun Gothic"/>
              </a:defRPr>
            </a:pPr>
            <a:r>
              <a:t>복잡한 JSON 없이 직관적인 한 줄 DSL로 서블릿 보안 규칙 선언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16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12064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12064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4846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간편 파라미터 DSL 문법 (parseSimpleParamSpec)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764792"/>
            <a:ext cx="48280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기본 형식: "파라미터명:필수여부:타입/패턴:길이범위"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필수 여부 토큰: required (필수) | optional (선택, 기본값)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길이 지정 토큰: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  - 범위 지정: 2..20 (minLength=2, maxLength=20)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  - 단일 숫자: 50 (maxLength=50) / min:4 / max:100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내장 타입 별칭 (자동 정규식 변환):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  - digits / number : ^[0-9]+$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  - alnum : ^[a-zA-Z0-9_]+$  |  alpha : ^[a-zA-Z]+$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  - korean / hangul : ^[가-힣a-zA-Z\s]+$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  - email : 이메일 정규식 (기본 max 100)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  - phone : ^01[016789]-?\d{3,4}-?\d{4}$ (기본 max 13)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  - date (YYYY-MM-DD) | datetime | time | uuid | ip | url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  - Enum 선택지: asc|desc 또는 profile|settings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  - 커스텀 정규식: pattern(^ORD_[0-9]+$)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325880"/>
            <a:ext cx="5971032" cy="242316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1325880"/>
            <a:ext cx="5971032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88736" y="1353312"/>
            <a:ext cx="5715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3C5FD"/>
                </a:solidFill>
                <a:latin typeface="Malgun Gothic"/>
              </a:defRPr>
            </a:pPr>
            <a:r>
              <a:t>예제 1: 단일 경로 서블릿 (@Component 프로퍼티 선언)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8736" y="1673352"/>
            <a:ext cx="571500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@Component(service = Servlet.class, property = {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"sling.servlet.paths=/aemapi/user/contact",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"security.methods=POST",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"security.allowedReferrers=partner.abc.com",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"security.params=name:required:2..20:korean",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"security.params=email:required:email:50",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"security.params=phone:optional:phone",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"security.params=message:required:1..500"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public class UserContactServlet extends SlingAllMethodsServlet { ... 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3931920"/>
            <a:ext cx="5971032" cy="24688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3931920"/>
            <a:ext cx="5971032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959352"/>
            <a:ext cx="5715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3C5FD"/>
                </a:solidFill>
                <a:latin typeface="Malgun Gothic"/>
              </a:defRPr>
            </a:pPr>
            <a:r>
              <a:t>예제 2: 복수 경로(Multi-Path) 서블릿의 경로별 차등 보안 정책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88736" y="4279392"/>
            <a:ext cx="571500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@Component(service = Servlet.class, property = {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"sling.servlet.paths=/aemapi/order/inquiry",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"sling.servlet.paths=/aemapi/order/cancel",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// 경로별 허용 HTTP Method 분리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"security.methods=/aemapi/order/inquiry:GET",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"security.methods=/aemapi/order/cancel:POST",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// 모든 경로 공통 필수 파라미터 + 경로 전용 파라미터 분리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"security.params=orderId:required:pattern(^ORD_[0-9]{3,10}$):15",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"security.params=/aemapi/order/cancel:reason:optional:100"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public class MultiPathOrderServlet extends SlingAllMethodsServlet { ...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0116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16. OSGI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OSGi .config 전역 설정 구조 및 장애 복원력(Resilience)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01168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algun Gothic"/>
              </a:defRPr>
            </a:pPr>
            <a:r>
              <a:t>com.example.security.filters.SecurityFilter.config 상세 명세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17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760720" cy="507492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76072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353312"/>
            <a:ext cx="55046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3C5FD"/>
                </a:solidFill>
                <a:latin typeface="Malgun Gothic"/>
              </a:defRPr>
            </a:pPr>
            <a:r>
              <a:t>ui.config — com.example.security.filters.SecurityFilter.config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1673352"/>
            <a:ext cx="5504688" cy="4672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# 1. 필터 마스터 스위치 및 대상 경로 정규식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enabled=B"true"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sling.filter.pattern="(/aemapi/.*|/sysapi/.*)"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# 2. 핵심 3대 Validator 전역 On/Off 스위치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validator.referer.enabled=B"true"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validator.method.enabled=B"true"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validator.param.enabled=B"true"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# 3. 기본 보안 정책 (Default Policy - 모든 서블릿에 기본 상속)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default.enabled=B"true"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default.referrer="abc.com"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default.methods=["GET","POST"]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default.blockSqlInjection=B"true"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default.blockXss=B"true"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default.allowUndefinedParams=B"false"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default.params=[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"page:optional:digits:5",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"size:optional:digits:4",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"sort:optional:alnum:30",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"order:optional:asc|desc:4",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"lang:optional:pattern(^[a-zA-Z]{2}(?:-[a-zA-Z0-9]{2,})?$):10",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"keyword:optional:100"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]</a:t>
            </a:r>
          </a:p>
          <a:p>
            <a:br/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# 4. 개별 서블릿 정책 무시 및 글로벌 기본 정책 강제 여부</a:t>
            </a:r>
            <a:br/>
            <a:r>
              <a:t>default.ignoreServletPolicies=B"false"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25880"/>
            <a:ext cx="5330952" cy="2423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325880"/>
            <a:ext cx="5330952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371600"/>
            <a:ext cx="50566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OSGi .config 타입 접두사(B"true") 완벽 호환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1764792"/>
            <a:ext cx="50383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Apache Felix Configuration Admin의 .config 파일 문법에서는 Boolean 타입을 B"true" / B"false"로 표기합니다.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OSGi 런타임이 이를 boolean으로 변환하여 주입하며, 문자열로 전달되는 환경에서도 SecurityFilter.toBoolean()이 B"true"와 "true"를 모두 안전하게 파싱합니다.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validator.referer.enabled, validator.method.enabled, validator.param.enabled 토글을 통해 운영 중 특정 검증기를 재배포 없이 즉시 On/Off 할 수 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931920"/>
            <a:ext cx="5330952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931920"/>
            <a:ext cx="5330952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977640"/>
            <a:ext cx="50566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설정 오류 방어 및 무중단 복원력 (handleConfigFailure)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370832"/>
            <a:ext cx="50383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Fail-Fast 설정 검증 (validate):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  - 허용되지 않는 HTTP 메소드명, 잘못된 정규식 문법, minLength &gt; maxLength 역전 등을 init() 시점에 즉시 검증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Last Known Good (이전 정상 설정 유지):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  - 운영 중 잘못된 OSGi 설정이 배포되어 파싱 예외가 발생하더라도 서비스가 중단되지 않고 직전 정상 설정(Last Known Good)을 그대로 유지하며 CRITICAL 에러 로그를 남깁니다.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0116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17. OBSERVABILITY &amp; 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단계별 디버그 로깅 및 차단 원인(BlockedByConfig) 상세 추적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01168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algun Gothic"/>
              </a:defRPr>
            </a:pPr>
            <a:r>
              <a:t>바인딩 로그 노이즈는 제거하고, 요청 검증·차단 시에는 적용 정책과 차단 규칙을 명확히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18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11274552" cy="1783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274552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1100023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로깅 설계 핵심 원칙 3가지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764792"/>
            <a:ext cx="109819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1) 서블릿 바인딩/언바인딩 로그 출력 완전 차단 : bindServlet / unbindServlet / registerDynamicPolicy 에서는 디버그 로그를 출력하지 않아 기동·배포 시 로그 폭증 방지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2) 주요 검증 흐름 디버그 로그(LOG.debug) : 필터 진입/종료, Tier 1~6 정책 매칭, 각 Validator 실행 및 통과 설정(PassedConfig)을 단계별로 추적 가능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Malgun Gothic"/>
              </a:defRPr>
            </a:pPr>
            <a:r>
              <a:t>3) 필터 차단 시 상세 정보 출력(LOG.debug &amp; LOG.warn) : 현재 서블릿에 적용된 전체 보안설정(AppliedServletPolicy)과 어떤 설정 규칙에 의해 막혔는지(BlockedByConfig) 동시 출력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11274552" cy="3154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11274552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3319272"/>
            <a:ext cx="11018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3C5FD"/>
                </a:solidFill>
                <a:latin typeface="Malgun Gothic"/>
              </a:defRPr>
            </a:pPr>
            <a:r>
              <a:t>실제 로그 출력 예시 (1: 정상 통과 시 DEBUG 로그 / 2: 필터에 막혔을 때 WARN &amp; DEBUG 로그)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3639312"/>
            <a:ext cx="11018520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80">
                <a:solidFill>
                  <a:srgbClr val="E2E8F0"/>
                </a:solidFill>
                <a:latin typeface="Consolas"/>
              </a:defRPr>
            </a:pPr>
            <a:r>
              <a:t># [Case 1] 정상 요청 통과 시 (DEBUG 레벨)</a:t>
            </a:r>
          </a:p>
          <a:p>
            <a:pPr>
              <a:spcAft>
                <a:spcPts val="200"/>
              </a:spcAft>
              <a:defRPr sz="880">
                <a:solidFill>
                  <a:srgbClr val="E2E8F0"/>
                </a:solidFill>
                <a:latin typeface="Consolas"/>
              </a:defRPr>
            </a:pPr>
            <a:r>
              <a:t>--&gt; [FILTER START] Evaluating request: Method=[POST], URI=[/aemapi/user/contact], Query=[null], ClientIP=[127.0.0.1]</a:t>
            </a:r>
          </a:p>
          <a:p>
            <a:pPr>
              <a:spcAft>
                <a:spcPts val="200"/>
              </a:spcAft>
              <a:defRPr sz="880">
                <a:solidFill>
                  <a:srgbClr val="E2E8F0"/>
                </a:solidFill>
                <a:latin typeface="Consolas"/>
              </a:defRPr>
            </a:pPr>
            <a:r>
              <a:t>[PolicyMatch] Tier 2 (동적 바인딩 서블릿 경로 일치) 매칭 성공: URI=[/aemapi/user/contact] -&gt; target=[/aemapi/user/contact]</a:t>
            </a:r>
          </a:p>
          <a:p>
            <a:pPr>
              <a:spcAft>
                <a:spcPts val="200"/>
              </a:spcAft>
              <a:defRPr sz="880">
                <a:solidFill>
                  <a:srgbClr val="E2E8F0"/>
                </a:solidFill>
                <a:latin typeface="Consolas"/>
              </a:defRPr>
            </a:pPr>
            <a:r>
              <a:t>Evaluating policy target [/aemapi/user/contact] for [POST /aemapi/user/contact]: AppliedServletPolicy=[source=...UserContactServlet, ...]</a:t>
            </a:r>
          </a:p>
          <a:p>
            <a:pPr>
              <a:spcAft>
                <a:spcPts val="200"/>
              </a:spcAft>
              <a:defRPr sz="880">
                <a:solidFill>
                  <a:srgbClr val="E2E8F0"/>
                </a:solidFill>
                <a:latin typeface="Consolas"/>
              </a:defRPr>
            </a:pPr>
            <a:r>
              <a:t>  [+] Validator [REFERER] PASSED for target [/aemapi/user/contact] | PassedConfig=[defaultReferrer='abc.com', allowedReferrers=[partner.abc.com], requestReferer='https://partner.abc.com/form']</a:t>
            </a:r>
          </a:p>
          <a:p>
            <a:pPr>
              <a:spcAft>
                <a:spcPts val="200"/>
              </a:spcAft>
              <a:defRPr sz="880">
                <a:solidFill>
                  <a:srgbClr val="E2E8F0"/>
                </a:solidFill>
                <a:latin typeface="Consolas"/>
              </a:defRPr>
            </a:pPr>
            <a:r>
              <a:t>  [+] Validator [METHOD] PASSED for target [/aemapi/user/contact] | PassedConfig=[allowedMethods=[POST], requestMethod='POST']</a:t>
            </a:r>
          </a:p>
          <a:p>
            <a:pPr>
              <a:spcAft>
                <a:spcPts val="200"/>
              </a:spcAft>
              <a:defRPr sz="880">
                <a:solidFill>
                  <a:srgbClr val="E2E8F0"/>
                </a:solidFill>
                <a:latin typeface="Consolas"/>
              </a:defRPr>
            </a:pPr>
            <a:r>
              <a:t>  [+] Validator [PARAM] PASSED for target [/aemapi/user/contact] | PassedConfig=[allowUndefinedParams=false, blockSqlInjection=true, blockXss=true, ...]</a:t>
            </a:r>
          </a:p>
          <a:p>
            <a:pPr>
              <a:spcAft>
                <a:spcPts val="200"/>
              </a:spcAft>
              <a:defRPr sz="880">
                <a:solidFill>
                  <a:srgbClr val="E2E8F0"/>
                </a:solidFill>
                <a:latin typeface="Consolas"/>
              </a:defRPr>
            </a:pPr>
            <a:r>
              <a:t>&lt;-- [FILTER PASS] Request [POST /aemapi/user/contact] passed all security validations (Referer, Method, Param).</a:t>
            </a:r>
          </a:p>
          <a:p>
            <a:pPr>
              <a:spcAft>
                <a:spcPts val="200"/>
              </a:spcAft>
              <a:defRPr sz="88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880">
                <a:solidFill>
                  <a:srgbClr val="E2E8F0"/>
                </a:solidFill>
                <a:latin typeface="Consolas"/>
              </a:defRPr>
            </a:pPr>
            <a:r>
              <a:t># [Case 2] 보안 정책 위반으로 필터에 막혔을 때 (WARN 레벨 — 어떤 설정에 막혔는지 + 서블릿의 현재 보안 설정 전체 출력)</a:t>
            </a:r>
          </a:p>
          <a:p>
            <a:pPr>
              <a:spcAft>
                <a:spcPts val="200"/>
              </a:spcAft>
              <a:defRPr sz="880">
                <a:solidFill>
                  <a:srgbClr val="E2E8F0"/>
                </a:solidFill>
                <a:latin typeface="Consolas"/>
              </a:defRPr>
            </a:pPr>
            <a:r>
              <a:t>SECURITY VIOLATION BLOCKED: Client IP=[127.0.0.1], Method=[POST], URI=[/aemapi/user/contact], Validator=[PARAM], Status=[400], ErrorCode=[SEC-40003],</a:t>
            </a:r>
          </a:p>
          <a:p>
            <a:pPr>
              <a:spcAft>
                <a:spcPts val="200"/>
              </a:spcAft>
              <a:defRPr sz="880">
                <a:solidFill>
                  <a:srgbClr val="E2E8F0"/>
                </a:solidFill>
                <a:latin typeface="Consolas"/>
              </a:defRPr>
            </a:pPr>
            <a:r>
              <a:t>  Reason=[Parameter [name] length (1) &lt; min (2)]</a:t>
            </a:r>
          </a:p>
          <a:p>
            <a:pPr>
              <a:spcAft>
                <a:spcPts val="200"/>
              </a:spcAft>
              <a:defRPr sz="880">
                <a:solidFill>
                  <a:srgbClr val="E2E8F0"/>
                </a:solidFill>
                <a:latin typeface="Consolas"/>
              </a:defRPr>
            </a:pPr>
            <a:r>
              <a:t>  | BlockedByConfig=[param=name, minLength=2, actualLength=1, rule={required=true, len=2..20, pattern='^[가-힣a-zA-Z\s]+$'}]</a:t>
            </a:r>
          </a:p>
          <a:p>
            <a:pPr>
              <a:spcAft>
                <a:spcPts val="200"/>
              </a:spcAft>
              <a:defRPr sz="880">
                <a:solidFill>
                  <a:srgbClr val="E2E8F0"/>
                </a:solidFill>
                <a:latin typeface="Consolas"/>
              </a:defRPr>
            </a:pPr>
            <a:r>
              <a:t>  | AppliedServletPolicy=[source=com.example.security.servlets.UserContactServlet, target=/aemapi/user/contact, methods=[POST],</a:t>
            </a:r>
          </a:p>
          <a:p>
            <a:pPr>
              <a:spcAft>
                <a:spcPts val="200"/>
              </a:spcAft>
              <a:defRPr sz="880">
                <a:solidFill>
                  <a:srgbClr val="E2E8F0"/>
                </a:solidFill>
                <a:latin typeface="Consolas"/>
              </a:defRPr>
            </a:pPr>
            <a:r>
              <a:t>      allowedReferrers=[abc.com, partner.abc.com], blockSqlInjection=true, blockXss=true, allowUndefinedParams=false,</a:t>
            </a:r>
          </a:p>
          <a:p>
            <a:pPr>
              <a:spcAft>
                <a:spcPts val="200"/>
              </a:spcAft>
              <a:defRPr sz="880">
                <a:solidFill>
                  <a:srgbClr val="E2E8F0"/>
                </a:solidFill>
                <a:latin typeface="Consolas"/>
              </a:defRPr>
            </a:pPr>
            <a:r>
              <a:t>      params={name={required=true, len=2..20, pattern='^[가-힣a-zA-Z\s]+$'}, email={required=true, len=0..50, ...}}]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0116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18. ERROR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표준 보안 에러 코드 체계 및 JSON 응답 규격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01168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algun Gothic"/>
              </a:defRPr>
            </a:pPr>
            <a:r>
              <a:t>SecurityErrorCode 열거형 기반 일관된 에러 코드 및 클라이언트 응답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19 / 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25880"/>
          <a:ext cx="740664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1280160"/>
                <a:gridCol w="3931920"/>
              </a:tblGrid>
              <a:tr h="46135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에러 코드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HTTP 상태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검증기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차단 조건 및 BlockedByConfig 출력 내용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SEC-40303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REFERER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신뢰되지 않은 Referer 헤더 또는 누락 (defaultReferrer, allowedReferrers, requestReferer)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SEC-40501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405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허용되지 않은 HTTP Method 호출 (allowedMethods, requestMethod)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SEC-40001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PARAM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필수(required=true) 파라미터 누락 또는 빈 값 (param, required=true, actualValue=MISSING)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SEC-40002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PARAM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정책에 정의되지 않은 파라미터 전달 (param, allowUndefinedParams=false, definedParams)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SEC-40003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PARAM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파라미터 최소 길이(minLength) 미달 (param, minLength, actualLength, rule)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SEC-40004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PARAM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파라미터 최대 길이(maxLength) 초과 (param, maxLength, actualLength, rule)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SEC-40005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PARAM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정규식 패턴(pattern) 불일치 또는 잘못된 정규식 (param, pattern, actualValue)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SEC-40007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PARAM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경로 조작(Path Traversal: ../, %2e%2e, %00) 패턴 탐지 (param, allowPathTraversal=false)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SEC-40008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PARAM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SQL / AEM JCR-SQL2 / XPath 인젝션 패턴 탐지 (param, blockSqlInjection=true)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SEC-40009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t>PARAM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크로스 사이트 스크립팅(XSS: &lt;script&gt;, onerror= 등) 탐지 (param, blockXss=true)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046720" y="1325880"/>
            <a:ext cx="3685032" cy="242316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325880"/>
            <a:ext cx="3685032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353312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3C5FD"/>
                </a:solidFill>
                <a:latin typeface="Malgun Gothic"/>
              </a:defRPr>
            </a:pPr>
            <a:r>
              <a:t>클라이언트 JSON 에러 응답 포맷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1673352"/>
            <a:ext cx="342900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HTTP/1.1 400 Bad Request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Content-Type: application/json;charset=UTF-8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"code": 400,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"errorCode": "SEC-40003",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"message": "Parameter 'name' must be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at least 2 characters long."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931920"/>
            <a:ext cx="3685032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3931920"/>
            <a:ext cx="3685032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3977640"/>
            <a:ext cx="34107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단위 테스트 검증 현황 (TestRunner)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4370832"/>
            <a:ext cx="33924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SqlAndXssValidationTest : 13개 통과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  - 표준 SQLi, UNION, Blind SQLi, JCR-SQL2, XPath, XSS 태그/이벤트/인코딩 우회 검증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PathTraversalValidationTest : 8개 통과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  - ../, ..\, URL 인코딩, 이중 인코딩, ..;/, Null Byte 검증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SecurityFilterTest : 9개 통과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  - Referer/Method/Param 통합 검증, 다중 경로 서블릿, BlockedByConfig &amp; AppliedServletPolicy 검증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총 30개 단위 테스트 100% 통과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4231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03. ARCHITECTURE (SIMPLE)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시스템 아키텍처 다이어그램 — 심플 버전 (Simple Overview)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01168"/>
            <a:ext cx="78638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한눈에 보는 AEM 경량 보안 필터(security-simple)의 핵심 구성요소 및 요청 처리 흐름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04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298448"/>
            <a:ext cx="3063240" cy="1170432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0" y="1371600"/>
            <a:ext cx="2788920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1. 전역 기본 정책 (SecurityFilter.config)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682496"/>
            <a:ext cx="27889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80" b="1">
                <a:solidFill>
                  <a:srgbClr val="0F172A"/>
                </a:solidFill>
                <a:latin typeface="Malgun Gothic"/>
              </a:defRPr>
            </a:pPr>
            <a:r>
              <a:t>• 기본 도메인: default.referrer = "abc.com"</a:t>
            </a:r>
          </a:p>
          <a:p>
            <a:pPr algn="l">
              <a:lnSpc>
                <a:spcPct val="118000"/>
              </a:lnSpc>
              <a:defRPr sz="850" b="0">
                <a:solidFill>
                  <a:srgbClr val="0F172A"/>
                </a:solidFill>
                <a:latin typeface="Malgun Gothic"/>
              </a:defRPr>
            </a:pPr>
            <a:r>
              <a:t>• 기본 메소드: GET, POST / SQLi·XSS 자동 차단</a:t>
            </a:r>
          </a:p>
          <a:p>
            <a:pPr algn="l">
              <a:lnSpc>
                <a:spcPct val="118000"/>
              </a:lnSpc>
              <a:defRPr sz="850" b="0">
                <a:solidFill>
                  <a:srgbClr val="475569"/>
                </a:solidFill>
                <a:latin typeface="Malgun Gothic"/>
              </a:defRPr>
            </a:pPr>
            <a:r>
              <a:t>• 공통 파라미터: page, size, sort, order, lang, keyword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98448"/>
            <a:ext cx="3063240" cy="1170432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2788920" cy="256032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2. 서블릿 개별 정책 (@Component Property)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82496"/>
            <a:ext cx="27889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80" b="1">
                <a:solidFill>
                  <a:srgbClr val="0F172A"/>
                </a:solidFill>
                <a:latin typeface="Malgun Gothic"/>
              </a:defRPr>
            </a:pPr>
            <a:r>
              <a:t>• OSGi @Reference 동적 바인딩 (bindServlet)</a:t>
            </a:r>
          </a:p>
          <a:p>
            <a:pPr algn="l">
              <a:lnSpc>
                <a:spcPct val="118000"/>
              </a:lnSpc>
              <a:defRPr sz="850" b="0">
                <a:solidFill>
                  <a:srgbClr val="0F172A"/>
                </a:solidFill>
                <a:latin typeface="Malgun Gothic"/>
              </a:defRPr>
            </a:pPr>
            <a:r>
              <a:t>• 서블릿별 security.methods / security.params 선언</a:t>
            </a:r>
          </a:p>
          <a:p>
            <a:pPr algn="l">
              <a:lnSpc>
                <a:spcPct val="118000"/>
              </a:lnSpc>
              <a:defRPr sz="850" b="1">
                <a:solidFill>
                  <a:srgbClr val="0D9488"/>
                </a:solidFill>
                <a:latin typeface="Malgun Gothic"/>
              </a:defRPr>
            </a:pPr>
            <a:r>
              <a:t>• 미선언 항목은 기본 정책(defaultPolicy) 자동 상속!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187952" y="2514600"/>
            <a:ext cx="292608" cy="256032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7516368" y="2514600"/>
            <a:ext cx="292608" cy="256032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523744"/>
            <a:ext cx="29260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880" b="1">
                <a:solidFill>
                  <a:srgbClr val="4F46E5"/>
                </a:solidFill>
                <a:latin typeface="Malgun Gothic"/>
              </a:defRPr>
            </a:pPr>
            <a:r>
              <a:t>정책 자동 합성 (inheritFrom) &amp; O(1) 인덱싱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34640"/>
            <a:ext cx="1920240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2944368"/>
            <a:ext cx="182880" cy="18288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55140" y="3127248"/>
            <a:ext cx="32918" cy="201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25296" y="3182112"/>
            <a:ext cx="292608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71016" y="3319272"/>
            <a:ext cx="201168" cy="292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71016" y="3328416"/>
            <a:ext cx="32004" cy="1280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40180" y="3328416"/>
            <a:ext cx="32004" cy="1280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5780" y="3474720"/>
            <a:ext cx="169164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3212" y="3483864"/>
            <a:ext cx="1636776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defRPr sz="880" b="1">
                <a:solidFill>
                  <a:srgbClr val="FFFFFF"/>
                </a:solidFill>
                <a:latin typeface="Malgun Gothic"/>
              </a:defRPr>
            </a:pPr>
            <a:r>
              <a:t>웹 브라우저 (Client)</a:t>
            </a:r>
          </a:p>
          <a:p>
            <a:pPr algn="ctr">
              <a:lnSpc>
                <a:spcPct val="105000"/>
              </a:lnSpc>
              <a:defRPr sz="720" b="0">
                <a:solidFill>
                  <a:srgbClr val="94A3B8"/>
                </a:solidFill>
                <a:latin typeface="Malgun Gothic"/>
              </a:defRPr>
            </a:pPr>
            <a:r>
              <a:t>HTTP / API 요청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913632"/>
            <a:ext cx="1737360" cy="1508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2000"/>
              </a:lnSpc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요청 유입</a:t>
            </a:r>
          </a:p>
          <a:p>
            <a:pPr algn="l">
              <a:lnSpc>
                <a:spcPct val="122000"/>
              </a:lnSpc>
              <a:defRPr sz="880" b="0">
                <a:solidFill>
                  <a:srgbClr val="0F172A"/>
                </a:solidFill>
                <a:latin typeface="Malgun Gothic"/>
              </a:defRPr>
            </a:pPr>
            <a:r>
              <a:t>• GET / POST 요청</a:t>
            </a:r>
          </a:p>
          <a:p>
            <a:pPr algn="l">
              <a:lnSpc>
                <a:spcPct val="122000"/>
              </a:lnSpc>
              <a:defRPr sz="880" b="0">
                <a:solidFill>
                  <a:srgbClr val="0F172A"/>
                </a:solidFill>
                <a:latin typeface="Malgun Gothic"/>
              </a:defRPr>
            </a:pPr>
            <a:r>
              <a:t>• /aemapi/*, /sysapi/*</a:t>
            </a:r>
          </a:p>
          <a:p>
            <a:pPr algn="l">
              <a:lnSpc>
                <a:spcPct val="122000"/>
              </a:lnSpc>
              <a:defRPr sz="880" b="0">
                <a:solidFill>
                  <a:srgbClr val="0F172A"/>
                </a:solidFill>
                <a:latin typeface="Malgun Gothic"/>
              </a:defRPr>
            </a:pPr>
            <a:r>
              <a:t>• Referer 헤더</a:t>
            </a:r>
          </a:p>
          <a:p>
            <a:pPr algn="l">
              <a:lnSpc>
                <a:spcPct val="122000"/>
              </a:lnSpc>
              <a:defRPr sz="880" b="0">
                <a:solidFill>
                  <a:srgbClr val="0F172A"/>
                </a:solidFill>
                <a:latin typeface="Malgun Gothic"/>
              </a:defRPr>
            </a:pPr>
            <a:r>
              <a:t>• Query / Form 파라미터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395728" y="4005072"/>
            <a:ext cx="329184" cy="3474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88920" y="2834640"/>
            <a:ext cx="6400800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79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88920" y="2834640"/>
            <a:ext cx="64008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07792" y="2889504"/>
            <a:ext cx="6172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[Filter] SecurityFilter (AEM Sling REQUEST 필터 — 핵심 3단계 처리)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44368" y="3364992"/>
            <a:ext cx="1783080" cy="199339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651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035808" y="3456432"/>
            <a:ext cx="1600200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STEP 1. 경로 패턴 가드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3822191"/>
            <a:ext cx="1645920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F172A"/>
                </a:solidFill>
                <a:latin typeface="Malgun Gothic"/>
              </a:defRPr>
            </a:pPr>
            <a:r>
              <a:t>필터 대상 여부 판별</a:t>
            </a:r>
          </a:p>
          <a:p>
            <a:pPr algn="l">
              <a:lnSpc>
                <a:spcPct val="120000"/>
              </a:lnSpc>
              <a:defRPr sz="850" b="0">
                <a:solidFill>
                  <a:srgbClr val="0F172A"/>
                </a:solidFill>
                <a:latin typeface="Malgun Gothic"/>
              </a:defRPr>
            </a:pPr>
            <a:r>
              <a:t>• enabled 활성화 확인</a:t>
            </a:r>
          </a:p>
          <a:p>
            <a:pPr algn="l">
              <a:lnSpc>
                <a:spcPct val="120000"/>
              </a:lnSpc>
              <a:defRPr sz="850" b="1">
                <a:solidFill>
                  <a:srgbClr val="2563EB"/>
                </a:solidFill>
                <a:latin typeface="Malgun Gothic"/>
              </a:defRPr>
            </a:pPr>
            <a:r>
              <a:t>• sling.filter.pattern</a:t>
            </a:r>
          </a:p>
          <a:p>
            <a:pPr algn="l">
              <a:lnSpc>
                <a:spcPct val="120000"/>
              </a:lnSpc>
              <a:defRPr sz="850" b="0">
                <a:solidFill>
                  <a:srgbClr val="0F172A"/>
                </a:solidFill>
                <a:latin typeface="Malgun Gothic"/>
              </a:defRPr>
            </a:pPr>
            <a:r>
              <a:t>  정규식 일치 검사</a:t>
            </a:r>
          </a:p>
          <a:p>
            <a:pPr algn="l">
              <a:lnSpc>
                <a:spcPct val="120000"/>
              </a:lnSpc>
              <a:defRPr sz="850" b="1">
                <a:solidFill>
                  <a:srgbClr val="16A34A"/>
                </a:solidFill>
                <a:latin typeface="Malgun Gothic"/>
              </a:defRPr>
            </a:pPr>
            <a:r>
              <a:t>• 미일치 시 즉시 통과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764024" y="4224528"/>
            <a:ext cx="201168" cy="25603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01768" y="3364992"/>
            <a:ext cx="1874519" cy="1993392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651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93208" y="3456432"/>
            <a:ext cx="1691640" cy="27432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STEP 2. 고속 정책 매칭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3822191"/>
            <a:ext cx="1737360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0D9488"/>
                </a:solidFill>
                <a:latin typeface="Malgun Gothic"/>
              </a:defRPr>
            </a:pPr>
            <a:r>
              <a:t>ServletSecurityConfig</a:t>
            </a:r>
          </a:p>
          <a:p>
            <a:pPr algn="l">
              <a:lnSpc>
                <a:spcPct val="120000"/>
              </a:lnSpc>
              <a:defRPr sz="850" b="0">
                <a:solidFill>
                  <a:srgbClr val="0F172A"/>
                </a:solidFill>
                <a:latin typeface="Malgun Gothic"/>
              </a:defRPr>
            </a:pPr>
            <a:r>
              <a:t>• URI / ResourceType</a:t>
            </a:r>
          </a:p>
          <a:p>
            <a:pPr algn="l">
              <a:lnSpc>
                <a:spcPct val="120000"/>
              </a:lnSpc>
              <a:defRPr sz="850" b="1">
                <a:solidFill>
                  <a:srgbClr val="0F172A"/>
                </a:solidFill>
                <a:latin typeface="Malgun Gothic"/>
              </a:defRPr>
            </a:pPr>
            <a:r>
              <a:t>  O(1) 해시맵 탐색</a:t>
            </a:r>
          </a:p>
          <a:p>
            <a:pPr algn="l">
              <a:lnSpc>
                <a:spcPct val="120000"/>
              </a:lnSpc>
              <a:defRPr sz="850" b="0">
                <a:solidFill>
                  <a:srgbClr val="0F172A"/>
                </a:solidFill>
                <a:latin typeface="Malgun Gothic"/>
              </a:defRPr>
            </a:pPr>
            <a:r>
              <a:t>• 개별 정책 없을 시</a:t>
            </a:r>
          </a:p>
          <a:p>
            <a:pPr algn="l">
              <a:lnSpc>
                <a:spcPct val="120000"/>
              </a:lnSpc>
              <a:defRPr sz="850" b="1">
                <a:solidFill>
                  <a:srgbClr val="0D9488"/>
                </a:solidFill>
                <a:latin typeface="Malgun Gothic"/>
              </a:defRPr>
            </a:pPr>
            <a:r>
              <a:t>  defaultPolicy 폴백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6912864" y="4224528"/>
            <a:ext cx="201168" cy="256032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150608" y="3364992"/>
            <a:ext cx="1901952" cy="199339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651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242048" y="3456432"/>
            <a:ext cx="1719072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STEP 3. 3대 검증기 체인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3822191"/>
            <a:ext cx="1755648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4F46E5"/>
                </a:solidFill>
                <a:latin typeface="Malgun Gothic"/>
              </a:defRPr>
            </a:pPr>
            <a:r>
              <a:t>순차 검증 (Fail-Fast)</a:t>
            </a:r>
          </a:p>
          <a:p>
            <a:pPr algn="l">
              <a:lnSpc>
                <a:spcPct val="120000"/>
              </a:lnSpc>
              <a:defRPr sz="850" b="1">
                <a:solidFill>
                  <a:srgbClr val="0D9488"/>
                </a:solidFill>
                <a:latin typeface="Malgun Gothic"/>
              </a:defRPr>
            </a:pPr>
            <a:r>
              <a:t>① Referer (도메인 403)</a:t>
            </a:r>
          </a:p>
          <a:p>
            <a:pPr algn="l">
              <a:lnSpc>
                <a:spcPct val="120000"/>
              </a:lnSpc>
              <a:defRPr sz="850" b="1">
                <a:solidFill>
                  <a:srgbClr val="2563EB"/>
                </a:solidFill>
                <a:latin typeface="Malgun Gothic"/>
              </a:defRPr>
            </a:pPr>
            <a:r>
              <a:t>② Method (메소드 405)</a:t>
            </a:r>
          </a:p>
          <a:p>
            <a:pPr algn="l">
              <a:lnSpc>
                <a:spcPct val="120000"/>
              </a:lnSpc>
              <a:defRPr sz="850" b="1">
                <a:solidFill>
                  <a:srgbClr val="4F46E5"/>
                </a:solidFill>
                <a:latin typeface="Malgun Gothic"/>
              </a:defRPr>
            </a:pPr>
            <a:r>
              <a:t>③ Param (필수/길이/</a:t>
            </a:r>
          </a:p>
          <a:p>
            <a:pPr algn="l">
              <a:lnSpc>
                <a:spcPct val="120000"/>
              </a:lnSpc>
              <a:defRPr sz="850" b="1">
                <a:solidFill>
                  <a:srgbClr val="4F46E5"/>
                </a:solidFill>
                <a:latin typeface="Malgun Gothic"/>
              </a:defRPr>
            </a:pPr>
            <a:r>
              <a:t>   SQLi/XSS/경로 400)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253728" y="3493008"/>
            <a:ext cx="329184" cy="310896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646920" y="2834640"/>
            <a:ext cx="2148840" cy="128016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46920" y="2834640"/>
            <a:ext cx="2148840" cy="3108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0" y="2862072"/>
            <a:ext cx="20574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[PASS] 검증 통과 ➔ 서블릿 실행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3200400"/>
            <a:ext cx="1965960" cy="8595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80" b="1">
                <a:solidFill>
                  <a:srgbClr val="16A34A"/>
                </a:solidFill>
                <a:latin typeface="Malgun Gothic"/>
              </a:defRPr>
            </a:pPr>
            <a:r>
              <a:t>• chain.doFilter() 정상 호출</a:t>
            </a:r>
          </a:p>
          <a:p>
            <a:pPr algn="l">
              <a:lnSpc>
                <a:spcPct val="118000"/>
              </a:lnSpc>
              <a:defRPr sz="830" b="0">
                <a:solidFill>
                  <a:srgbClr val="0F172A"/>
                </a:solidFill>
                <a:latin typeface="Malgun Gothic"/>
              </a:defRPr>
            </a:pPr>
            <a:r>
              <a:t>• 대상 AEM 서블릿 비즈니스 로직 실행</a:t>
            </a:r>
          </a:p>
          <a:p>
            <a:pPr algn="l">
              <a:lnSpc>
                <a:spcPct val="118000"/>
              </a:lnSpc>
              <a:defRPr sz="830" b="0">
                <a:solidFill>
                  <a:srgbClr val="475569"/>
                </a:solidFill>
                <a:latin typeface="Malgun Gothic"/>
              </a:defRPr>
            </a:pPr>
            <a:r>
              <a:t>• PassedConfig 디버그 로그 기록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9253728" y="4754880"/>
            <a:ext cx="329184" cy="310896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646920" y="4251960"/>
            <a:ext cx="2148840" cy="128016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228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20" y="4251960"/>
            <a:ext cx="2148840" cy="310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4279392"/>
            <a:ext cx="20574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[BLOCK] 위반 탐지 ➔ 즉시 차단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38360" y="4617720"/>
            <a:ext cx="1965960" cy="8595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80" b="1">
                <a:solidFill>
                  <a:srgbClr val="DC2626"/>
                </a:solidFill>
                <a:latin typeface="Malgun Gothic"/>
              </a:defRPr>
            </a:pPr>
            <a:r>
              <a:t>• 서블릿 실행 즉시 중단 (Fail-Fast)</a:t>
            </a:r>
          </a:p>
          <a:p>
            <a:pPr algn="l">
              <a:lnSpc>
                <a:spcPct val="118000"/>
              </a:lnSpc>
              <a:defRPr sz="830" b="0">
                <a:solidFill>
                  <a:srgbClr val="0F172A"/>
                </a:solidFill>
                <a:latin typeface="Malgun Gothic"/>
              </a:defRPr>
            </a:pPr>
            <a:r>
              <a:t>• 403 / 405 / 400 표준 JSON 응답</a:t>
            </a:r>
          </a:p>
          <a:p>
            <a:pPr algn="l">
              <a:lnSpc>
                <a:spcPct val="118000"/>
              </a:lnSpc>
              <a:defRPr sz="830" b="0">
                <a:solidFill>
                  <a:srgbClr val="475569"/>
                </a:solidFill>
                <a:latin typeface="Malgun Gothic"/>
              </a:defRPr>
            </a:pPr>
            <a:r>
              <a:t>• BlockedByConfig 감사 로그 기록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5724144"/>
            <a:ext cx="11384280" cy="8046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5779008"/>
            <a:ext cx="11018520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980" b="1">
                <a:solidFill>
                  <a:srgbClr val="FCD34D"/>
                </a:solidFill>
                <a:latin typeface="Malgun Gothic"/>
              </a:defRPr>
            </a:pPr>
            <a:r>
              <a:t>[핵심 요약] 심플 아키텍처 오버뷰</a:t>
            </a:r>
          </a:p>
          <a:p>
            <a:pPr algn="l">
              <a:lnSpc>
                <a:spcPct val="118000"/>
              </a:lnSpc>
              <a:defRPr sz="840" b="0">
                <a:solidFill>
                  <a:srgbClr val="FFFFFF"/>
                </a:solidFill>
                <a:latin typeface="Malgun Gothic"/>
              </a:defRPr>
            </a:pPr>
            <a:r>
              <a:t>1) [설정 단계] 전역 기본 정책(SecurityFilter.config)과 서블릿 개별 설정(@Component)이 자동 병합되어 O(1) 해시맵에 저장됩니다.</a:t>
            </a:r>
          </a:p>
          <a:p>
            <a:pPr algn="l">
              <a:lnSpc>
                <a:spcPct val="118000"/>
              </a:lnSpc>
              <a:defRPr sz="840" b="0">
                <a:solidFill>
                  <a:srgbClr val="FFFFFF"/>
                </a:solidFill>
                <a:latin typeface="Malgun Gothic"/>
              </a:defRPr>
            </a:pPr>
            <a:r>
              <a:t>2) [실행 단계] 유입된 요청은 ① 패턴 가드 ➔ ② 정책 매칭 ➔ ③ 3대 검증기(Referer·Method·Param)를 거치며, 통과 시 서블릿을 실행하고 위반 시 즉시 JSON 차단 응답을 반환합니다.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4231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04. ARCHITECTURE (DETAILED)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전체 시스템 아키텍처 다이어그램 — 상세 버전 (Detailed Architecture)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01168"/>
            <a:ext cx="78638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Control Plane(OSGi 설정·동적 바인딩) · Runtime Data Plane(6단계 매칭·3대 검증기) · Target/Block 계층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05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61872"/>
            <a:ext cx="19659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61872"/>
            <a:ext cx="19659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298448"/>
            <a:ext cx="185623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[Client] 웹 브라우저 / 외부 호출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64208"/>
            <a:ext cx="1828800" cy="1600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2000"/>
              </a:lnSpc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HTTP/HTTPS 요청 유입</a:t>
            </a:r>
          </a:p>
          <a:p>
            <a:pPr algn="l">
              <a:lnSpc>
                <a:spcPct val="122000"/>
              </a:lnSpc>
              <a:defRPr sz="830" b="0">
                <a:solidFill>
                  <a:srgbClr val="0F172A"/>
                </a:solidFill>
                <a:latin typeface="Malgun Gothic"/>
              </a:defRPr>
            </a:pPr>
            <a:r>
              <a:t>• URI: /aemapi/*, /sysapi/*</a:t>
            </a:r>
          </a:p>
          <a:p>
            <a:pPr algn="l">
              <a:lnSpc>
                <a:spcPct val="122000"/>
              </a:lnSpc>
              <a:defRPr sz="830" b="0">
                <a:solidFill>
                  <a:srgbClr val="0F172A"/>
                </a:solidFill>
                <a:latin typeface="Malgun Gothic"/>
              </a:defRPr>
            </a:pPr>
            <a:r>
              <a:t>• Method: GET, POST, ...</a:t>
            </a:r>
          </a:p>
          <a:p>
            <a:pPr algn="l">
              <a:lnSpc>
                <a:spcPct val="122000"/>
              </a:lnSpc>
              <a:defRPr sz="830" b="0">
                <a:solidFill>
                  <a:srgbClr val="0F172A"/>
                </a:solidFill>
                <a:latin typeface="Malgun Gothic"/>
              </a:defRPr>
            </a:pPr>
            <a:r>
              <a:t>• Header: Referer, Origin</a:t>
            </a:r>
          </a:p>
          <a:p>
            <a:pPr algn="l">
              <a:lnSpc>
                <a:spcPct val="122000"/>
              </a:lnSpc>
              <a:defRPr sz="830" b="0">
                <a:solidFill>
                  <a:srgbClr val="0F172A"/>
                </a:solidFill>
                <a:latin typeface="Malgun Gothic"/>
              </a:defRPr>
            </a:pPr>
            <a:r>
              <a:t>• Header: X-Forwarded-For</a:t>
            </a:r>
          </a:p>
          <a:p>
            <a:pPr algn="l">
              <a:lnSpc>
                <a:spcPct val="122000"/>
              </a:lnSpc>
              <a:defRPr sz="830" b="0">
                <a:solidFill>
                  <a:srgbClr val="475569"/>
                </a:solidFill>
                <a:latin typeface="Malgun Gothic"/>
              </a:defRPr>
            </a:pPr>
            <a:r>
              <a:t>• Query &amp; Form 파라미터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59152" y="3291840"/>
            <a:ext cx="256032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337560"/>
            <a:ext cx="102412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defRPr sz="850" b="1">
                <a:solidFill>
                  <a:srgbClr val="2563EB"/>
                </a:solidFill>
                <a:latin typeface="Malgun Gothic"/>
              </a:defRPr>
            </a:pPr>
            <a:r>
              <a:t>요청 인입 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49039"/>
            <a:ext cx="1965960" cy="2852928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196596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3785615"/>
            <a:ext cx="185623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[Block] 차단 응답 &amp; 감사 로깅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151376"/>
            <a:ext cx="1828800" cy="23957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defRPr sz="900" b="1">
                <a:solidFill>
                  <a:srgbClr val="DC2626"/>
                </a:solidFill>
                <a:latin typeface="Malgun Gothic"/>
              </a:defRPr>
            </a:pPr>
            <a:r>
              <a:t>[1] Fail-Fast JSON 에러 응답</a:t>
            </a:r>
          </a:p>
          <a:p>
            <a:pPr algn="l">
              <a:lnSpc>
                <a:spcPct val="120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• 403 SEC-40303 (Referer)</a:t>
            </a:r>
          </a:p>
          <a:p>
            <a:pPr algn="l">
              <a:lnSpc>
                <a:spcPct val="120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• 405 SEC-40501 (Method)</a:t>
            </a:r>
          </a:p>
          <a:p>
            <a:pPr algn="l">
              <a:lnSpc>
                <a:spcPct val="120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• 400 SEC-40001~9 (Param)</a:t>
            </a:r>
          </a:p>
          <a:p>
            <a:pPr algn="l">
              <a:lnSpc>
                <a:spcPct val="120000"/>
              </a:lnSpc>
              <a:defRPr sz="900" b="1">
                <a:solidFill>
                  <a:srgbClr val="1E293B"/>
                </a:solidFill>
                <a:latin typeface="Malgun Gothic"/>
              </a:defRPr>
            </a:pPr>
            <a:r>
              <a:t>[2] SLF4J WARN/DEBUG 감사 로그</a:t>
            </a:r>
          </a:p>
          <a:p>
            <a:pPr algn="l">
              <a:lnSpc>
                <a:spcPct val="120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• BlockedByConfig (차단 규칙·값)</a:t>
            </a:r>
          </a:p>
          <a:p>
            <a:pPr algn="l">
              <a:lnSpc>
                <a:spcPct val="120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• AppliedServletPolicy (적용정책)</a:t>
            </a:r>
          </a:p>
          <a:p>
            <a:pPr algn="l">
              <a:lnSpc>
                <a:spcPct val="120000"/>
              </a:lnSpc>
              <a:defRPr sz="819" b="0">
                <a:solidFill>
                  <a:srgbClr val="475569"/>
                </a:solidFill>
                <a:latin typeface="Malgun Gothic"/>
              </a:defRPr>
            </a:pPr>
            <a:r>
              <a:t>• SecurityUtils (IP/CRLF 정제)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2359152" y="5349240"/>
            <a:ext cx="256032" cy="256032"/>
          </a:xfrm>
          <a:prstGeom prst="lef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33472" y="1261872"/>
            <a:ext cx="6720840" cy="1572768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33472" y="1261872"/>
            <a:ext cx="67208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24912" y="1280160"/>
            <a:ext cx="65379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[Control Plane] AEM 6.5 OSGi Container &amp; Configuration Admin (기동 및 동적 바인딩 계층)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61488" y="1627632"/>
            <a:ext cx="3154680" cy="1115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52928" y="1682496"/>
            <a:ext cx="2971800" cy="237744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80" b="1">
                <a:solidFill>
                  <a:srgbClr val="FFFFFF"/>
                </a:solidFill>
                <a:latin typeface="Malgun Gothic"/>
              </a:defRPr>
            </a:pPr>
            <a:r>
              <a:t>OSGi OCD 전역 설정 (SecurityFilter.config)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1947672"/>
            <a:ext cx="3017520" cy="7680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• enabled / sling.filter.pattern 정규식</a:t>
            </a:r>
          </a:p>
          <a:p>
            <a:pPr algn="l">
              <a:lnSpc>
                <a:spcPct val="115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• validator.referer|method|param.enabled</a:t>
            </a:r>
          </a:p>
          <a:p>
            <a:pPr algn="l">
              <a:lnSpc>
                <a:spcPct val="115000"/>
              </a:lnSpc>
              <a:defRPr sz="819" b="1">
                <a:solidFill>
                  <a:srgbClr val="0D9488"/>
                </a:solidFill>
                <a:latin typeface="Malgun Gothic"/>
              </a:defRPr>
            </a:pPr>
            <a:r>
              <a:t>• default.* (abc.com, GET/POST, 공통 params)</a:t>
            </a:r>
          </a:p>
          <a:p>
            <a:pPr algn="l">
              <a:lnSpc>
                <a:spcPct val="115000"/>
              </a:lnSpc>
              <a:defRPr sz="819" b="1">
                <a:solidFill>
                  <a:srgbClr val="4F46E5"/>
                </a:solidFill>
                <a:latin typeface="Malgun Gothic"/>
              </a:defRPr>
            </a:pPr>
            <a:r>
              <a:t>• default.ignoreServletPolicies (글로벌 강제)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53328" y="1627632"/>
            <a:ext cx="3163824" cy="1115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44768" y="1682496"/>
            <a:ext cx="2980944" cy="23774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80" b="1">
                <a:solidFill>
                  <a:srgbClr val="FFFFFF"/>
                </a:solidFill>
                <a:latin typeface="Malgun Gothic"/>
              </a:defRPr>
            </a:pPr>
            <a:r>
              <a:t>OSGi @Reference 동적 서블릿 감지 (boundServlets)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1947672"/>
            <a:ext cx="3035808" cy="7680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• bindServlet() / unbindServlet() 실시간 감지</a:t>
            </a:r>
          </a:p>
          <a:p>
            <a:pPr algn="l">
              <a:lnSpc>
                <a:spcPct val="115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• 서블릿 @Component (security.methods/params)</a:t>
            </a:r>
          </a:p>
          <a:p>
            <a:pPr algn="l">
              <a:lnSpc>
                <a:spcPct val="115000"/>
              </a:lnSpc>
              <a:defRPr sz="819" b="1">
                <a:solidFill>
                  <a:srgbClr val="0D9488"/>
                </a:solidFill>
                <a:latin typeface="Malgun Gothic"/>
              </a:defRPr>
            </a:pPr>
            <a:r>
              <a:t>• inheritFrom(defaultPolicy) 기본 정책 자동 상속</a:t>
            </a:r>
          </a:p>
          <a:p>
            <a:pPr algn="l">
              <a:lnSpc>
                <a:spcPct val="115000"/>
              </a:lnSpc>
              <a:defRPr sz="819" b="0">
                <a:solidFill>
                  <a:srgbClr val="475569"/>
                </a:solidFill>
                <a:latin typeface="Malgun Gothic"/>
              </a:defRPr>
            </a:pPr>
            <a:r>
              <a:t>• 바인딩/언바인딩 시 디버그 로그 노이즈 억제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4206240" y="2843784"/>
            <a:ext cx="237744" cy="18288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wn Arrow 29"/>
          <p:cNvSpPr/>
          <p:nvPr/>
        </p:nvSpPr>
        <p:spPr>
          <a:xfrm>
            <a:off x="7498079" y="2843784"/>
            <a:ext cx="237744" cy="18288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633472" y="3035808"/>
            <a:ext cx="672084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33472" y="3035808"/>
            <a:ext cx="6720840" cy="310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24912" y="3063240"/>
            <a:ext cx="65379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[Runtime Data Plane] SecurityFilter (sling.filter.scope=REQUEST, service.ranking=10000)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61488" y="3438144"/>
            <a:ext cx="2057400" cy="12618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834640" y="3502152"/>
            <a:ext cx="1911095" cy="237744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80" b="1">
                <a:solidFill>
                  <a:srgbClr val="FFFFFF"/>
                </a:solidFill>
                <a:latin typeface="Malgun Gothic"/>
              </a:defRPr>
            </a:pPr>
            <a:r>
              <a:t>Stage 1. Fast-Path 패턴 가드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16352" y="3776472"/>
            <a:ext cx="1947672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30" b="0">
                <a:solidFill>
                  <a:srgbClr val="0F172A"/>
                </a:solidFill>
                <a:latin typeface="Malgun Gothic"/>
              </a:defRPr>
            </a:pPr>
            <a:r>
              <a:t>• 필터 enabled 활성화 확인</a:t>
            </a:r>
          </a:p>
          <a:p>
            <a:pPr algn="l">
              <a:lnSpc>
                <a:spcPct val="118000"/>
              </a:lnSpc>
              <a:defRPr sz="830" b="1">
                <a:solidFill>
                  <a:srgbClr val="2563EB"/>
                </a:solidFill>
                <a:latin typeface="Malgun Gothic"/>
              </a:defRPr>
            </a:pPr>
            <a:r>
              <a:t>• matchesFilterPattern(uri)</a:t>
            </a:r>
          </a:p>
          <a:p>
            <a:pPr algn="l">
              <a:lnSpc>
                <a:spcPct val="118000"/>
              </a:lnSpc>
              <a:defRPr sz="800" b="0">
                <a:solidFill>
                  <a:srgbClr val="475569"/>
                </a:solidFill>
                <a:latin typeface="Malgun Gothic"/>
              </a:defRPr>
            </a:pPr>
            <a:r>
              <a:t>  (/aemapi/.*|/sysapi/.*)</a:t>
            </a:r>
          </a:p>
          <a:p>
            <a:pPr algn="l">
              <a:lnSpc>
                <a:spcPct val="118000"/>
              </a:lnSpc>
              <a:defRPr sz="830" b="1">
                <a:solidFill>
                  <a:srgbClr val="16A34A"/>
                </a:solidFill>
                <a:latin typeface="Malgun Gothic"/>
              </a:defRPr>
            </a:pPr>
            <a:r>
              <a:t>• 미대상 경로는 즉시 Bypass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855464" y="3950208"/>
            <a:ext cx="201168" cy="219456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93208" y="3438144"/>
            <a:ext cx="4123944" cy="1261872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184648" y="3502152"/>
            <a:ext cx="3941063" cy="23774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80" b="1">
                <a:solidFill>
                  <a:srgbClr val="FFFFFF"/>
                </a:solidFill>
                <a:latin typeface="Malgun Gothic"/>
              </a:defRPr>
            </a:pPr>
            <a:r>
              <a:t>Stage 2. 고속 정책 매칭 엔진 (ServletSecurityConfig.findMatchingPolicy)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3776472"/>
            <a:ext cx="201168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19" b="1">
                <a:solidFill>
                  <a:srgbClr val="4F46E5"/>
                </a:solidFill>
                <a:latin typeface="Malgun Gothic"/>
              </a:defRPr>
            </a:pPr>
            <a:r>
              <a:t>• ignoreServletPolicies=true 시</a:t>
            </a:r>
          </a:p>
          <a:p>
            <a:pPr algn="l">
              <a:lnSpc>
                <a:spcPct val="118000"/>
              </a:lnSpc>
              <a:defRPr sz="800" b="0">
                <a:solidFill>
                  <a:srgbClr val="4F46E5"/>
                </a:solidFill>
                <a:latin typeface="Malgun Gothic"/>
              </a:defRPr>
            </a:pPr>
            <a:r>
              <a:t>  ➔ 글로벌 defaultPolicy 즉시 반환</a:t>
            </a:r>
          </a:p>
          <a:p>
            <a:pPr algn="l">
              <a:lnSpc>
                <a:spcPct val="118000"/>
              </a:lnSpc>
              <a:defRPr sz="819" b="1">
                <a:solidFill>
                  <a:srgbClr val="0F172A"/>
                </a:solidFill>
                <a:latin typeface="Malgun Gothic"/>
              </a:defRPr>
            </a:pPr>
            <a:r>
              <a:t>• Tier 1: Exact URI 일치 O(1)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• Tier 2: Base URI (확장자 제거) O(1)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3776472"/>
            <a:ext cx="1993392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19" b="1">
                <a:solidFill>
                  <a:srgbClr val="0F172A"/>
                </a:solidFill>
                <a:latin typeface="Malgun Gothic"/>
              </a:defRPr>
            </a:pPr>
            <a:r>
              <a:t>• Tier 3: Sling ResourceType O(1)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• Tier 4: 정규식 패턴 (compiledPattern)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• Tier 5: 경로 접두사 / 컴포넌트 경로</a:t>
            </a:r>
          </a:p>
          <a:p>
            <a:pPr algn="l">
              <a:lnSpc>
                <a:spcPct val="118000"/>
              </a:lnSpc>
              <a:defRPr sz="819" b="1">
                <a:solidFill>
                  <a:srgbClr val="0D9488"/>
                </a:solidFill>
                <a:latin typeface="Malgun Gothic"/>
              </a:defRPr>
            </a:pPr>
            <a:r>
              <a:t>• Tier 6: defaultPolicy 안전 폴백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5870448" y="4718304"/>
            <a:ext cx="256032" cy="164592"/>
          </a:xfrm>
          <a:prstGeom prst="down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761488" y="4901184"/>
            <a:ext cx="6455664" cy="1591056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77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61488" y="4901184"/>
            <a:ext cx="64556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4919472"/>
            <a:ext cx="630936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Stage 3. 핵심 3대 PolicyValidator 체인 순차 실행 (Fail-Fast: 위반 시 즉시 차단 / 통과 시 다음 단계)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52928" y="5212080"/>
            <a:ext cx="1901952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907792" y="5257800"/>
            <a:ext cx="1792224" cy="21945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30" b="1">
                <a:solidFill>
                  <a:srgbClr val="FFFFFF"/>
                </a:solidFill>
                <a:latin typeface="Malgun Gothic"/>
              </a:defRPr>
            </a:pPr>
            <a:r>
              <a:t>1. RefererPolicyValidator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89504" y="5504688"/>
            <a:ext cx="182880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• Referer / Origin 호스트 추출</a:t>
            </a:r>
          </a:p>
          <a:p>
            <a:pPr algn="l">
              <a:lnSpc>
                <a:spcPct val="115000"/>
              </a:lnSpc>
              <a:defRPr sz="800" b="1">
                <a:solidFill>
                  <a:srgbClr val="0D9488"/>
                </a:solidFill>
                <a:latin typeface="Malgun Gothic"/>
              </a:defRPr>
            </a:pPr>
            <a:r>
              <a:t>• defaultReferrer (abc.com)</a:t>
            </a:r>
          </a:p>
          <a:p>
            <a:pPr algn="l">
              <a:lnSpc>
                <a:spcPct val="115000"/>
              </a:lnSpc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• allowedReferrers 서브도메인</a:t>
            </a:r>
          </a:p>
          <a:p>
            <a:pPr algn="l">
              <a:lnSpc>
                <a:spcPct val="115000"/>
              </a:lnSpc>
              <a:defRPr sz="800" b="1">
                <a:solidFill>
                  <a:srgbClr val="DC2626"/>
                </a:solidFill>
                <a:latin typeface="Malgun Gothic"/>
              </a:defRPr>
            </a:pPr>
            <a:r>
              <a:t>• 위반: 403 (SEC-40303)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4782312" y="5705856"/>
            <a:ext cx="164592" cy="201168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974336" y="5212080"/>
            <a:ext cx="1874519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029200" y="5257800"/>
            <a:ext cx="1764792" cy="219456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30" b="1">
                <a:solidFill>
                  <a:srgbClr val="FFFFFF"/>
                </a:solidFill>
                <a:latin typeface="Malgun Gothic"/>
              </a:defRPr>
            </a:pPr>
            <a:r>
              <a:t>2. MethodPolicyValidator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10912" y="5504688"/>
            <a:ext cx="1801368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• 요청 HTTP Method 확인</a:t>
            </a:r>
          </a:p>
          <a:p>
            <a:pPr algn="l">
              <a:lnSpc>
                <a:spcPct val="115000"/>
              </a:lnSpc>
              <a:defRPr sz="800" b="1">
                <a:solidFill>
                  <a:srgbClr val="2563EB"/>
                </a:solidFill>
                <a:latin typeface="Malgun Gothic"/>
              </a:defRPr>
            </a:pPr>
            <a:r>
              <a:t>• upperMethods 불변 Set</a:t>
            </a:r>
          </a:p>
          <a:p>
            <a:pPr algn="l">
              <a:lnSpc>
                <a:spcPct val="115000"/>
              </a:lnSpc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O(1) 화이트리스트 조회</a:t>
            </a:r>
          </a:p>
          <a:p>
            <a:pPr algn="l">
              <a:lnSpc>
                <a:spcPct val="115000"/>
              </a:lnSpc>
              <a:defRPr sz="800" b="1">
                <a:solidFill>
                  <a:srgbClr val="DC2626"/>
                </a:solidFill>
                <a:latin typeface="Malgun Gothic"/>
              </a:defRPr>
            </a:pPr>
            <a:r>
              <a:t>• 위반: 405 (SEC-40501)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6876288" y="5705856"/>
            <a:ext cx="164592" cy="201168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068312" y="5212080"/>
            <a:ext cx="2057400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123176" y="5257800"/>
            <a:ext cx="1947672" cy="21945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30" b="1">
                <a:solidFill>
                  <a:srgbClr val="FFFFFF"/>
                </a:solidFill>
                <a:latin typeface="Malgun Gothic"/>
              </a:defRPr>
            </a:pPr>
            <a:r>
              <a:t>3. ParamPolicyValidator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04888" y="5504688"/>
            <a:ext cx="1984248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• 필수(40001) / 미정의(40002)</a:t>
            </a:r>
          </a:p>
          <a:p>
            <a:pPr algn="l">
              <a:lnSpc>
                <a:spcPct val="115000"/>
              </a:lnSpc>
              <a:defRPr sz="800" b="1">
                <a:solidFill>
                  <a:srgbClr val="4F46E5"/>
                </a:solidFill>
                <a:latin typeface="Malgun Gothic"/>
              </a:defRPr>
            </a:pPr>
            <a:r>
              <a:t>• PathTraversal(40007) 차단</a:t>
            </a:r>
          </a:p>
          <a:p>
            <a:pPr algn="l">
              <a:lnSpc>
                <a:spcPct val="115000"/>
              </a:lnSpc>
              <a:defRPr sz="800" b="1">
                <a:solidFill>
                  <a:srgbClr val="4F46E5"/>
                </a:solidFill>
                <a:latin typeface="Malgun Gothic"/>
              </a:defRPr>
            </a:pPr>
            <a:r>
              <a:t>• SQL/JCRi(40008)·XSS(40009)</a:t>
            </a:r>
          </a:p>
          <a:p>
            <a:pPr algn="l">
              <a:lnSpc>
                <a:spcPct val="115000"/>
              </a:lnSpc>
              <a:defRPr sz="800" b="1">
                <a:solidFill>
                  <a:srgbClr val="DC2626"/>
                </a:solidFill>
                <a:latin typeface="Malgun Gothic"/>
              </a:defRPr>
            </a:pPr>
            <a:r>
              <a:t>• 길이/정규식(40003~5) 검증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9381744" y="5349240"/>
            <a:ext cx="256032" cy="256032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674352" y="1261872"/>
            <a:ext cx="2148840" cy="5340096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74352" y="1261872"/>
            <a:ext cx="214884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29216" y="1298448"/>
            <a:ext cx="20391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[Target] 대상 Sling 서블릿 계층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84080" y="1719072"/>
            <a:ext cx="1929384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20656" y="1755648"/>
            <a:ext cx="1856231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900" b="1">
                <a:solidFill>
                  <a:srgbClr val="16A34A"/>
                </a:solidFill>
                <a:latin typeface="Malgun Gothic"/>
              </a:defRPr>
            </a:pPr>
            <a:r>
              <a:t>FilterChain.doFilter()</a:t>
            </a:r>
          </a:p>
          <a:p>
            <a:pPr algn="l">
              <a:lnSpc>
                <a:spcPct val="118000"/>
              </a:lnSpc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• PassedConfig DEBUG 기록</a:t>
            </a:r>
          </a:p>
          <a:p>
            <a:pPr algn="l">
              <a:lnSpc>
                <a:spcPct val="118000"/>
              </a:lnSpc>
              <a:defRPr sz="800" b="0">
                <a:solidFill>
                  <a:srgbClr val="475569"/>
                </a:solidFill>
                <a:latin typeface="Malgun Gothic"/>
              </a:defRPr>
            </a:pPr>
            <a:r>
              <a:t>• 검증 완료된 안전한 요청만 전달</a:t>
            </a:r>
          </a:p>
        </p:txBody>
      </p:sp>
      <p:sp>
        <p:nvSpPr>
          <p:cNvPr id="63" name="Down Arrow 62"/>
          <p:cNvSpPr/>
          <p:nvPr/>
        </p:nvSpPr>
        <p:spPr>
          <a:xfrm>
            <a:off x="10634472" y="2523744"/>
            <a:ext cx="219456" cy="164592"/>
          </a:xfrm>
          <a:prstGeom prst="down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784080" y="2724912"/>
            <a:ext cx="1929384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838944" y="2779776"/>
            <a:ext cx="1819656" cy="201168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단일 경로 서블릿 (@Component)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20656" y="3017520"/>
            <a:ext cx="1856231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defRPr sz="850" b="1">
                <a:solidFill>
                  <a:srgbClr val="2563EB"/>
                </a:solidFill>
                <a:latin typeface="Malgun Gothic"/>
              </a:defRPr>
            </a:pPr>
            <a:r>
              <a:t>UserContactServlet</a:t>
            </a:r>
          </a:p>
          <a:p>
            <a:pPr algn="l">
              <a:lnSpc>
                <a:spcPct val="115000"/>
              </a:lnSpc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• /aemapi/user/contact</a:t>
            </a:r>
          </a:p>
          <a:p>
            <a:pPr algn="l">
              <a:lnSpc>
                <a:spcPct val="115000"/>
              </a:lnSpc>
              <a:defRPr sz="800" b="0">
                <a:solidFill>
                  <a:srgbClr val="475569"/>
                </a:solidFill>
                <a:latin typeface="Malgun Gothic"/>
              </a:defRPr>
            </a:pPr>
            <a:r>
              <a:t>• POST / DSL 파라미터 검증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784080" y="3867912"/>
            <a:ext cx="1929384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838944" y="3922776"/>
            <a:ext cx="1819656" cy="20116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다중 경로 서블릿 (Multi-Path)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20656" y="4160520"/>
            <a:ext cx="1856231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defRPr sz="850" b="1">
                <a:solidFill>
                  <a:srgbClr val="0D9488"/>
                </a:solidFill>
                <a:latin typeface="Malgun Gothic"/>
              </a:defRPr>
            </a:pPr>
            <a:r>
              <a:t>MultiPathOrderServlet</a:t>
            </a:r>
          </a:p>
          <a:p>
            <a:pPr algn="l">
              <a:lnSpc>
                <a:spcPct val="115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/aemapi/order/inquiry (GET)</a:t>
            </a:r>
          </a:p>
          <a:p>
            <a:pPr algn="l">
              <a:lnSpc>
                <a:spcPct val="115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/aemapi/order/cancel (POST)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784080" y="5010912"/>
            <a:ext cx="1929384" cy="14447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838944" y="5065776"/>
            <a:ext cx="1819656" cy="20116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AEM JCR &amp; OSGi 비즈니스 로직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20656" y="5303520"/>
            <a:ext cx="1856231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6000"/>
              </a:lnSpc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• 미선언 일반 서블릿도</a:t>
            </a:r>
          </a:p>
          <a:p>
            <a:pPr algn="l">
              <a:lnSpc>
                <a:spcPct val="116000"/>
              </a:lnSpc>
              <a:defRPr sz="800" b="1">
                <a:solidFill>
                  <a:srgbClr val="4F46E5"/>
                </a:solidFill>
                <a:latin typeface="Malgun Gothic"/>
              </a:defRPr>
            </a:pPr>
            <a:r>
              <a:t>  defaultPolicy로 자동 보호</a:t>
            </a:r>
          </a:p>
          <a:p>
            <a:pPr algn="l">
              <a:lnSpc>
                <a:spcPct val="116000"/>
              </a:lnSpc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• JCR ResourceResolver 쿼리</a:t>
            </a:r>
          </a:p>
          <a:p>
            <a:pPr algn="l">
              <a:lnSpc>
                <a:spcPct val="116000"/>
              </a:lnSpc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• OSGi Service 안전 호출</a:t>
            </a:r>
          </a:p>
          <a:p>
            <a:pPr algn="l">
              <a:lnSpc>
                <a:spcPct val="116000"/>
              </a:lnSpc>
              <a:defRPr sz="819" b="1">
                <a:solidFill>
                  <a:srgbClr val="16A34A"/>
                </a:solidFill>
                <a:latin typeface="Malgun Gothic"/>
              </a:defRPr>
            </a:pPr>
            <a:r>
              <a:t>• 정상 200 OK 응답 반환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4231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05. LIFECYCLE — 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필터 생명주기 및 처리 흐름도 [Phase 1: 기동 및 설정 로드 (activate)]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01168"/>
            <a:ext cx="78638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OSGi 컴포넌트 활성화(@Activate) 및 설정 변경(@Modified) 시 기본 정책 생성과 서블릿 동기화 흐름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06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25296"/>
            <a:ext cx="7269480" cy="5376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12164" y="2176272"/>
            <a:ext cx="27432" cy="42519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81044" y="2176272"/>
            <a:ext cx="27432" cy="42519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32804" y="2176272"/>
            <a:ext cx="27432" cy="42519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34439" y="1298448"/>
            <a:ext cx="182880" cy="18288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09420" y="1481328"/>
            <a:ext cx="32918" cy="201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9576" y="1536192"/>
            <a:ext cx="292608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25295" y="1673351"/>
            <a:ext cx="201168" cy="292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25295" y="1682495"/>
            <a:ext cx="32004" cy="1280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94460" y="1682495"/>
            <a:ext cx="32004" cy="1280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5780" y="1828800"/>
            <a:ext cx="160020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" y="1837943"/>
            <a:ext cx="1545336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defRPr sz="880" b="1">
                <a:solidFill>
                  <a:srgbClr val="FFFFFF"/>
                </a:solidFill>
                <a:latin typeface="Malgun Gothic"/>
              </a:defRPr>
            </a:pPr>
            <a:r>
              <a:t>AEM / OSGi Container</a:t>
            </a:r>
          </a:p>
          <a:p>
            <a:pPr algn="ctr">
              <a:lnSpc>
                <a:spcPct val="105000"/>
              </a:lnSpc>
              <a:defRPr sz="720" b="0">
                <a:solidFill>
                  <a:srgbClr val="94A3B8"/>
                </a:solidFill>
                <a:latin typeface="Malgun Gothic"/>
              </a:defRPr>
            </a:pPr>
            <a:r>
              <a:t>actor OSGi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48940" y="1645919"/>
            <a:ext cx="1691640" cy="530352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85516" y="1682495"/>
            <a:ext cx="161848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SecurityFilter</a:t>
            </a:r>
          </a:p>
          <a:p>
            <a:pPr algn="ctr">
              <a:lnSpc>
                <a:spcPct val="110000"/>
              </a:lnSpc>
              <a:defRPr sz="740" b="0">
                <a:solidFill>
                  <a:srgbClr val="FFFFFF"/>
                </a:solidFill>
                <a:latin typeface="Malgun Gothic"/>
              </a:defRPr>
            </a:pPr>
            <a:r>
              <a:t>participant Filter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09260" y="1645919"/>
            <a:ext cx="1874519" cy="530352"/>
          </a:xfrm>
          <a:prstGeom prst="roundRect">
            <a:avLst>
              <a:gd name="adj" fmla="val 4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45836" y="1682495"/>
            <a:ext cx="1801367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ServletSecurityConfig</a:t>
            </a:r>
          </a:p>
          <a:p>
            <a:pPr algn="ctr">
              <a:lnSpc>
                <a:spcPct val="110000"/>
              </a:lnSpc>
              <a:defRPr sz="740" b="0">
                <a:solidFill>
                  <a:srgbClr val="FFFFFF"/>
                </a:solidFill>
                <a:latin typeface="Malgun Gothic"/>
              </a:defRPr>
            </a:pPr>
            <a:r>
              <a:t>participant Config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2267712"/>
            <a:ext cx="6675120" cy="310896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295144"/>
            <a:ext cx="652881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900" b="1">
                <a:solidFill>
                  <a:srgbClr val="0F172A"/>
                </a:solidFill>
                <a:latin typeface="Malgun Gothic"/>
              </a:defRPr>
            </a:pPr>
            <a:r>
              <a:t>[Phase 1: 기동 및 설정 로드 (activate)] — @Activate / @Modified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9566" y="2688336"/>
            <a:ext cx="2921508" cy="256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6142" y="2715768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6142" y="2724911"/>
            <a:ext cx="201168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6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3886" y="2697479"/>
            <a:ext cx="261061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10" b="1">
                <a:solidFill>
                  <a:srgbClr val="0F172A"/>
                </a:solidFill>
                <a:latin typeface="Malgun Gothic"/>
              </a:defRPr>
            </a:pPr>
            <a:r>
              <a:t>activate(Config config)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25880" y="2980944"/>
            <a:ext cx="2468880" cy="3108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289304" y="2960827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3666744" y="2935224"/>
            <a:ext cx="128016" cy="1188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94760" y="3264408"/>
            <a:ext cx="329184" cy="292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94683" y="3264408"/>
            <a:ext cx="29260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95344" y="3454603"/>
            <a:ext cx="228600" cy="292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ft Arrow 36"/>
          <p:cNvSpPr/>
          <p:nvPr/>
        </p:nvSpPr>
        <p:spPr>
          <a:xfrm>
            <a:off x="3794760" y="3410711"/>
            <a:ext cx="128016" cy="118872"/>
          </a:xfrm>
          <a:prstGeom prst="lef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85032" y="3236976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85032" y="3246120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78808" y="3227832"/>
            <a:ext cx="3246120" cy="320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33672" y="3236976"/>
            <a:ext cx="3136391" cy="3017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defRPr sz="810" b="1">
                <a:solidFill>
                  <a:srgbClr val="0F172A"/>
                </a:solidFill>
                <a:latin typeface="Malgun Gothic"/>
              </a:defRPr>
            </a:pPr>
            <a:r>
              <a:t>1. filterPattern 정규식 사전 컴파일</a:t>
            </a:r>
          </a:p>
          <a:p>
            <a:pPr algn="l">
              <a:lnSpc>
                <a:spcPct val="105000"/>
              </a:lnSpc>
              <a:defRPr sz="710" b="0">
                <a:solidFill>
                  <a:srgbClr val="475569"/>
                </a:solidFill>
                <a:latin typeface="Malgun Gothic"/>
              </a:defRPr>
            </a:pPr>
            <a:r>
              <a:t>Pattern.compile() 메모리 캐싱 &amp; 미일치 서블릿 정책 자동 해제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14700" y="3767328"/>
            <a:ext cx="3611880" cy="256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351276" y="3794760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51276" y="3803904"/>
            <a:ext cx="201168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6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89020" y="3776472"/>
            <a:ext cx="330098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10" b="1">
                <a:solidFill>
                  <a:srgbClr val="0F172A"/>
                </a:solidFill>
                <a:latin typeface="Malgun Gothic"/>
              </a:defRPr>
            </a:pPr>
            <a:r>
              <a:t>2. defaultPolicy (기본 정책) 생성 및 등록 (buildDefaultPolicy)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94760" y="4059936"/>
            <a:ext cx="2651759" cy="3108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58184" y="4039819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6318504" y="4014216"/>
            <a:ext cx="128016" cy="11887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177540" y="4334256"/>
            <a:ext cx="3886200" cy="256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214116" y="4361688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14116" y="4370832"/>
            <a:ext cx="201168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60" b="1">
                <a:solidFill>
                  <a:srgbClr val="FFFFF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51860" y="4343400"/>
            <a:ext cx="357530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10" b="1">
                <a:solidFill>
                  <a:srgbClr val="0F172A"/>
                </a:solidFill>
                <a:latin typeface="Malgun Gothic"/>
              </a:defRPr>
            </a:pPr>
            <a:r>
              <a:t>3. 전역 검증기 토글(Referer/Method/Param) &amp; ignoreServletPolicies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94760" y="4626864"/>
            <a:ext cx="2651759" cy="3108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758184" y="4606747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ight Arrow 54"/>
          <p:cNvSpPr/>
          <p:nvPr/>
        </p:nvSpPr>
        <p:spPr>
          <a:xfrm>
            <a:off x="6318504" y="4581144"/>
            <a:ext cx="128016" cy="118872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131820" y="4901184"/>
            <a:ext cx="3977639" cy="256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168396" y="4928616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68396" y="4937760"/>
            <a:ext cx="201168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60" b="1">
                <a:solidFill>
                  <a:srgbClr val="FFFFF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06140" y="4910328"/>
            <a:ext cx="366674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10" b="1">
                <a:solidFill>
                  <a:srgbClr val="0F172A"/>
                </a:solidFill>
                <a:latin typeface="Malgun Gothic"/>
              </a:defRPr>
            </a:pPr>
            <a:r>
              <a:t>4. 기존 바인딩 서블릿들과 defaultPolicy 동기화 (registerDynamicPolicy)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94760" y="5193792"/>
            <a:ext cx="2651759" cy="3108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758184" y="5173675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ight Arrow 61"/>
          <p:cNvSpPr/>
          <p:nvPr/>
        </p:nvSpPr>
        <p:spPr>
          <a:xfrm>
            <a:off x="6318504" y="5148072"/>
            <a:ext cx="128016" cy="1188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2514600" y="5532120"/>
            <a:ext cx="4937760" cy="384048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87752" y="5559552"/>
            <a:ext cx="4791456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900" b="1">
                <a:solidFill>
                  <a:srgbClr val="0F172A"/>
                </a:solidFill>
                <a:latin typeface="Malgun Gothic"/>
              </a:defRPr>
            </a:pPr>
            <a:r>
              <a:t>[무중단 복원력] 설정 파싱 예외 발생 시 handleConfigFailure()가 직전 정상 설정(Last Known Good) 유지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59" y="6080760"/>
            <a:ext cx="146304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2647" y="6144768"/>
            <a:ext cx="142646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819" b="1">
                <a:solidFill>
                  <a:srgbClr val="FFFFFF"/>
                </a:solidFill>
                <a:latin typeface="Malgun Gothic"/>
              </a:defRPr>
            </a:pPr>
            <a:r>
              <a:t>AEM / OSGi Container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63240" y="6080760"/>
            <a:ext cx="1463040" cy="347472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81528" y="6144768"/>
            <a:ext cx="142646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819" b="1">
                <a:solidFill>
                  <a:srgbClr val="FFFFFF"/>
                </a:solidFill>
                <a:latin typeface="Malgun Gothic"/>
              </a:defRPr>
            </a:pPr>
            <a:r>
              <a:t>SecurityFilter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23559" y="6080760"/>
            <a:ext cx="1645920" cy="347472"/>
          </a:xfrm>
          <a:prstGeom prst="roundRect">
            <a:avLst>
              <a:gd name="adj" fmla="val 4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41848" y="6144768"/>
            <a:ext cx="160934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819" b="1">
                <a:solidFill>
                  <a:srgbClr val="FFFFFF"/>
                </a:solidFill>
                <a:latin typeface="Malgun Gothic"/>
              </a:defRPr>
            </a:pPr>
            <a:r>
              <a:t>ServletSecurityConfig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772400" y="1225296"/>
            <a:ext cx="4050791" cy="5376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772400" y="1225296"/>
            <a:ext cx="4050791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882127" y="128016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기동 및 설정 로드 관점 (activate) 핵심 동작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918704" y="1700784"/>
            <a:ext cx="3758184" cy="113385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010144" y="1764792"/>
            <a:ext cx="3575304" cy="228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80" b="1">
                <a:solidFill>
                  <a:srgbClr val="FFFFFF"/>
                </a:solidFill>
                <a:latin typeface="Malgun Gothic"/>
              </a:defRPr>
            </a:pPr>
            <a:r>
              <a:t>1. 필터 대상 패턴 사전 컴파일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10144" y="2020824"/>
            <a:ext cx="3575304" cy="7863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config.sling_filter_pattern() 정규식을 Pattern.compile()로</a:t>
            </a:r>
          </a:p>
          <a:p>
            <a:pPr algn="l">
              <a:lnSpc>
                <a:spcPct val="112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  메모리에 사전 캐싱하여 런타임 정규식 컴파일 부하 제거</a:t>
            </a:r>
          </a:p>
          <a:p>
            <a:pPr algn="l">
              <a:lnSpc>
                <a:spcPct val="112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패턴 변경 시 기존 boundServlets를 재평가하여 미일치 정책 해제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18704" y="2926080"/>
            <a:ext cx="3758184" cy="113385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397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010144" y="2990088"/>
            <a:ext cx="3575304" cy="2286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80" b="1">
                <a:solidFill>
                  <a:srgbClr val="FFFFFF"/>
                </a:solidFill>
                <a:latin typeface="Malgun Gothic"/>
              </a:defRPr>
            </a:pPr>
            <a:r>
              <a:t>2. 전역 기본 정책 (defaultPolicy) 생성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10144" y="3246120"/>
            <a:ext cx="3575304" cy="7863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config의 default.* 속성으로 베이스라인 ServletPolicyRule 생성</a:t>
            </a:r>
          </a:p>
          <a:p>
            <a:pPr algn="l">
              <a:lnSpc>
                <a:spcPct val="112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기본 도메인(abc.com), 허용 메서드(GET·POST), SQLi/XSS 차단,</a:t>
            </a:r>
          </a:p>
          <a:p>
            <a:pPr algn="l">
              <a:lnSpc>
                <a:spcPct val="112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  공통 파라미터(page, size, sort, order, lang, keyword) 설정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18704" y="4151376"/>
            <a:ext cx="3758184" cy="113385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397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010144" y="4215384"/>
            <a:ext cx="3575304" cy="22860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80" b="1">
                <a:solidFill>
                  <a:srgbClr val="FFFFFF"/>
                </a:solidFill>
                <a:latin typeface="Malgun Gothic"/>
              </a:defRPr>
            </a:pPr>
            <a:r>
              <a:t>3. 검증기 On/Off 토글 및 글로벌 강제 설정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10144" y="4471416"/>
            <a:ext cx="3575304" cy="7863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validator_referer/method/param_enabled() 플래그를 읽어</a:t>
            </a:r>
          </a:p>
          <a:p>
            <a:pPr algn="l">
              <a:lnSpc>
                <a:spcPct val="112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  재배포 없이 전역 수준에서 특정 검증기 즉시 On/Off</a:t>
            </a:r>
          </a:p>
          <a:p>
            <a:pPr algn="l">
              <a:lnSpc>
                <a:spcPct val="112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default.ignoreServletPolicies 설정 반영 및 newConfig.init() 검증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918704" y="5376672"/>
            <a:ext cx="3758184" cy="960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010144" y="5440680"/>
            <a:ext cx="3575304" cy="22860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80" b="1">
                <a:solidFill>
                  <a:srgbClr val="FFFFFF"/>
                </a:solidFill>
                <a:latin typeface="Malgun Gothic"/>
              </a:defRPr>
            </a:pPr>
            <a:r>
              <a:t>4. 바인딩된 서블릿들과의 동기화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10144" y="5696712"/>
            <a:ext cx="3575304" cy="6126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필터보다 먼저 등록되어 대기 중이던 서블릿(boundServlets)에</a:t>
            </a:r>
          </a:p>
          <a:p>
            <a:pPr algn="l">
              <a:lnSpc>
                <a:spcPct val="112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  새로 로드된 defaultPolicy를 즉시 상속시켜 보안 정책 갱신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4231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06. LIFECYCLE — 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필터 생명주기 및 처리 흐름도 [Phase 2: 서블릿 동적 감지 (bindServlet)]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01168"/>
            <a:ext cx="78638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OSGi 컨테이너의 서블릿 등록/해제 실시간 감지 및 defaultPolicy 자동 상속·합성(Merge) 흐름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07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25296"/>
            <a:ext cx="6812280" cy="5376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66444" y="2176272"/>
            <a:ext cx="27432" cy="42519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43884" y="2176272"/>
            <a:ext cx="27432" cy="42519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21324" y="2176272"/>
            <a:ext cx="27432" cy="42519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8719" y="1298448"/>
            <a:ext cx="182880" cy="18288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63700" y="1481328"/>
            <a:ext cx="32918" cy="201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33856" y="1536192"/>
            <a:ext cx="292608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9575" y="1673351"/>
            <a:ext cx="201168" cy="292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9575" y="1682495"/>
            <a:ext cx="32004" cy="1280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48739" y="1682495"/>
            <a:ext cx="32004" cy="1280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19" y="1828800"/>
            <a:ext cx="155448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1837943"/>
            <a:ext cx="1499616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defRPr sz="880" b="1">
                <a:solidFill>
                  <a:srgbClr val="FFFFFF"/>
                </a:solidFill>
                <a:latin typeface="Malgun Gothic"/>
              </a:defRPr>
            </a:pPr>
            <a:r>
              <a:t>AEM / OSGi Container</a:t>
            </a:r>
          </a:p>
          <a:p>
            <a:pPr algn="ctr">
              <a:lnSpc>
                <a:spcPct val="105000"/>
              </a:lnSpc>
              <a:defRPr sz="720" b="0">
                <a:solidFill>
                  <a:srgbClr val="94A3B8"/>
                </a:solidFill>
                <a:latin typeface="Malgun Gothic"/>
              </a:defRPr>
            </a:pPr>
            <a:r>
              <a:t>actor OSGi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1645919"/>
            <a:ext cx="1645920" cy="530352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71216" y="1682495"/>
            <a:ext cx="15727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SecurityFilter</a:t>
            </a:r>
          </a:p>
          <a:p>
            <a:pPr algn="ctr">
              <a:lnSpc>
                <a:spcPct val="110000"/>
              </a:lnSpc>
              <a:defRPr sz="740" b="0">
                <a:solidFill>
                  <a:srgbClr val="FFFFFF"/>
                </a:solidFill>
                <a:latin typeface="Malgun Gothic"/>
              </a:defRPr>
            </a:pPr>
            <a:r>
              <a:t>participant Filter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43500" y="1645919"/>
            <a:ext cx="1783080" cy="530352"/>
          </a:xfrm>
          <a:prstGeom prst="roundRect">
            <a:avLst>
              <a:gd name="adj" fmla="val 4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80076" y="1682495"/>
            <a:ext cx="170992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ServletSecurityConfig</a:t>
            </a:r>
          </a:p>
          <a:p>
            <a:pPr algn="ctr">
              <a:lnSpc>
                <a:spcPct val="110000"/>
              </a:lnSpc>
              <a:defRPr sz="740" b="0">
                <a:solidFill>
                  <a:srgbClr val="FFFFFF"/>
                </a:solidFill>
                <a:latin typeface="Malgun Gothic"/>
              </a:defRPr>
            </a:pPr>
            <a:r>
              <a:t>participant Config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2267712"/>
            <a:ext cx="6309359" cy="310896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295144"/>
            <a:ext cx="6163055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900" b="1">
                <a:solidFill>
                  <a:srgbClr val="0F172A"/>
                </a:solidFill>
                <a:latin typeface="Malgun Gothic"/>
              </a:defRPr>
            </a:pPr>
            <a:r>
              <a:t>[Phase 2: 서블릿 동적 감지 (bindServlet &amp; unbindServlet)] — OSGi @Reference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4923" y="2688336"/>
            <a:ext cx="3867912" cy="256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1499" y="2715768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499" y="2724911"/>
            <a:ext cx="201168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6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3" y="2697479"/>
            <a:ext cx="3557016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10" b="1">
                <a:solidFill>
                  <a:srgbClr val="0F172A"/>
                </a:solidFill>
                <a:latin typeface="Malgun Gothic"/>
              </a:defRPr>
            </a:pPr>
            <a:r>
              <a:t>bindServlet(servlet, properties)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" y="2980944"/>
            <a:ext cx="2377440" cy="3108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243584" y="2960827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3529584" y="2935224"/>
            <a:ext cx="128016" cy="11887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264408"/>
            <a:ext cx="329184" cy="292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57523" y="3264408"/>
            <a:ext cx="29260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58184" y="3454603"/>
            <a:ext cx="228600" cy="292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ft Arrow 36"/>
          <p:cNvSpPr/>
          <p:nvPr/>
        </p:nvSpPr>
        <p:spPr>
          <a:xfrm>
            <a:off x="3657600" y="3410711"/>
            <a:ext cx="128016" cy="118872"/>
          </a:xfrm>
          <a:prstGeom prst="lef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547872" y="3236976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47872" y="3246120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41648" y="3227832"/>
            <a:ext cx="2971800" cy="320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96511" y="3236976"/>
            <a:ext cx="2862072" cy="3017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defRPr sz="810" b="1">
                <a:solidFill>
                  <a:srgbClr val="0F172A"/>
                </a:solidFill>
                <a:latin typeface="Malgun Gothic"/>
              </a:defRPr>
            </a:pPr>
            <a:r>
              <a:t>isApplicableServlet(properties) 필터 패턴 검사</a:t>
            </a:r>
          </a:p>
          <a:p>
            <a:pPr algn="l">
              <a:lnSpc>
                <a:spcPct val="105000"/>
              </a:lnSpc>
              <a:defRPr sz="710" b="0">
                <a:solidFill>
                  <a:srgbClr val="475569"/>
                </a:solidFill>
                <a:latin typeface="Malgun Gothic"/>
              </a:defRPr>
            </a:pPr>
            <a:r>
              <a:t>sling.filter.pattern 일치 시 boundServlets 저장 (로그 노이즈 억제)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28900" y="3803904"/>
            <a:ext cx="4434840" cy="256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665476" y="3831336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65476" y="3840480"/>
            <a:ext cx="201168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6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03220" y="3813048"/>
            <a:ext cx="4123944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10" b="1">
                <a:solidFill>
                  <a:srgbClr val="0F172A"/>
                </a:solidFill>
                <a:latin typeface="Malgun Gothic"/>
              </a:defRPr>
            </a:pPr>
            <a:r>
              <a:t>서블릿 property 파싱 + defaultPolicy 상속 후 동적 등록 (registerDynamicPolicy)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0" y="4096512"/>
            <a:ext cx="2377439" cy="3108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621024" y="4076395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5907024" y="4050792"/>
            <a:ext cx="128016" cy="11887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35040" y="4398264"/>
            <a:ext cx="329184" cy="292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34963" y="4398264"/>
            <a:ext cx="29260" cy="21945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35624" y="4588459"/>
            <a:ext cx="228600" cy="292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Left Arrow 51"/>
          <p:cNvSpPr/>
          <p:nvPr/>
        </p:nvSpPr>
        <p:spPr>
          <a:xfrm>
            <a:off x="6035040" y="4544568"/>
            <a:ext cx="128016" cy="118872"/>
          </a:xfrm>
          <a:prstGeom prst="lef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925312" y="4370831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25312" y="43799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34055" y="4361688"/>
            <a:ext cx="3154680" cy="320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88919" y="4370831"/>
            <a:ext cx="3044952" cy="3017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defRPr sz="810" b="1">
                <a:solidFill>
                  <a:srgbClr val="0F172A"/>
                </a:solidFill>
                <a:latin typeface="Malgun Gothic"/>
              </a:defRPr>
            </a:pPr>
            <a:r>
              <a:t>rule.inheritFrom(defaultPolicy) &amp; rule.init()</a:t>
            </a:r>
          </a:p>
          <a:p>
            <a:pPr algn="l">
              <a:lnSpc>
                <a:spcPct val="105000"/>
              </a:lnSpc>
              <a:defRPr sz="710" b="0">
                <a:solidFill>
                  <a:srgbClr val="475569"/>
                </a:solidFill>
                <a:latin typeface="Malgun Gothic"/>
              </a:defRPr>
            </a:pPr>
            <a:r>
              <a:t>dynamicExactUriMap / dynamicResourceTypeMap O(1) 해시 인덱싱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94360" y="4919472"/>
            <a:ext cx="6309359" cy="2743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651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" y="4946904"/>
            <a:ext cx="6163055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900" b="1">
                <a:solidFill>
                  <a:srgbClr val="0F172A"/>
                </a:solidFill>
                <a:latin typeface="Malgun Gothic"/>
              </a:defRPr>
            </a:pPr>
            <a:r>
              <a:t>[서블릿 번들 중지/해제 시 (unbindServlet)] — 동적 보안 정책 자동 제거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2658" y="5266944"/>
            <a:ext cx="3552444" cy="256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29234" y="5294376"/>
            <a:ext cx="201168" cy="20116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9234" y="5303520"/>
            <a:ext cx="201168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60" b="1">
                <a:solidFill>
                  <a:srgbClr val="FFFFF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6978" y="5276088"/>
            <a:ext cx="3241547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10" b="1">
                <a:solidFill>
                  <a:srgbClr val="0F172A"/>
                </a:solidFill>
                <a:latin typeface="Malgun Gothic"/>
              </a:defRPr>
            </a:pPr>
            <a:r>
              <a:t>unbindServlet(servlet, props)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80160" y="5559552"/>
            <a:ext cx="2377440" cy="3108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243584" y="5539435"/>
            <a:ext cx="73152" cy="7315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ight Arrow 64"/>
          <p:cNvSpPr/>
          <p:nvPr/>
        </p:nvSpPr>
        <p:spPr>
          <a:xfrm>
            <a:off x="3529584" y="5513832"/>
            <a:ext cx="128016" cy="11887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223260" y="5669280"/>
            <a:ext cx="3246120" cy="256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259836" y="5696712"/>
            <a:ext cx="201168" cy="20116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59836" y="5705856"/>
            <a:ext cx="201168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60" b="1">
                <a:solidFill>
                  <a:srgbClr val="FFFFF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97580" y="5678424"/>
            <a:ext cx="2935223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10" b="1">
                <a:solidFill>
                  <a:srgbClr val="0F172A"/>
                </a:solidFill>
                <a:latin typeface="Malgun Gothic"/>
              </a:defRPr>
            </a:pPr>
            <a:r>
              <a:t>unregisterDynamicPolicy(target) 인덱스 즉시 제거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0" y="5961888"/>
            <a:ext cx="2377439" cy="3108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21024" y="5941771"/>
            <a:ext cx="73152" cy="7315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ight Arrow 71"/>
          <p:cNvSpPr/>
          <p:nvPr/>
        </p:nvSpPr>
        <p:spPr>
          <a:xfrm>
            <a:off x="5907024" y="5916168"/>
            <a:ext cx="128016" cy="11887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48639" y="6108192"/>
            <a:ext cx="1463040" cy="32918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6927" y="6163056"/>
            <a:ext cx="142646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819" b="1">
                <a:solidFill>
                  <a:srgbClr val="FFFFFF"/>
                </a:solidFill>
                <a:latin typeface="Malgun Gothic"/>
              </a:defRPr>
            </a:pPr>
            <a:r>
              <a:t>AEM / OSGi Container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926080" y="6108192"/>
            <a:ext cx="1463040" cy="329184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944368" y="6163056"/>
            <a:ext cx="142646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819" b="1">
                <a:solidFill>
                  <a:srgbClr val="FFFFFF"/>
                </a:solidFill>
                <a:latin typeface="Malgun Gothic"/>
              </a:defRPr>
            </a:pPr>
            <a:r>
              <a:t>SecurityFilter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212079" y="6108192"/>
            <a:ext cx="1645920" cy="329184"/>
          </a:xfrm>
          <a:prstGeom prst="roundRect">
            <a:avLst>
              <a:gd name="adj" fmla="val 4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30368" y="6163056"/>
            <a:ext cx="160934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819" b="1">
                <a:solidFill>
                  <a:srgbClr val="FFFFFF"/>
                </a:solidFill>
                <a:latin typeface="Malgun Gothic"/>
              </a:defRPr>
            </a:pPr>
            <a:r>
              <a:t>ServletSecurityConfig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15200" y="1225296"/>
            <a:ext cx="4507992" cy="5376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1225296"/>
            <a:ext cx="4507992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24927" y="1280160"/>
            <a:ext cx="42976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데이터 상속 및 병합 (Inheritance &amp; Merge) 구조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479792" y="1700784"/>
            <a:ext cx="4178808" cy="1389888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7571231" y="1764792"/>
            <a:ext cx="3995928" cy="228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[1] OSGi 전역 설정 (SecurityFilter.config ➔ defaultPolicy)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71231" y="2029968"/>
            <a:ext cx="3995928" cy="10241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defRPr sz="819" b="0">
                <a:solidFill>
                  <a:srgbClr val="0F172A"/>
                </a:solidFill>
                <a:latin typeface="Consolas"/>
              </a:defRPr>
            </a:pPr>
            <a:r>
              <a:t>• methods = [GET, POST]</a:t>
            </a:r>
          </a:p>
          <a:p>
            <a:pPr algn="l">
              <a:lnSpc>
                <a:spcPct val="115000"/>
              </a:lnSpc>
              <a:defRPr sz="819" b="0">
                <a:solidFill>
                  <a:srgbClr val="0F172A"/>
                </a:solidFill>
                <a:latin typeface="Consolas"/>
              </a:defRPr>
            </a:pPr>
            <a:r>
              <a:t>• defaultReferrer = "abc.com"</a:t>
            </a:r>
          </a:p>
          <a:p>
            <a:pPr algn="l">
              <a:lnSpc>
                <a:spcPct val="115000"/>
              </a:lnSpc>
              <a:defRPr sz="819" b="0">
                <a:solidFill>
                  <a:srgbClr val="0F172A"/>
                </a:solidFill>
                <a:latin typeface="Consolas"/>
              </a:defRPr>
            </a:pPr>
            <a:r>
              <a:t>• blockSqlInjection = true, blockXss = true</a:t>
            </a:r>
          </a:p>
          <a:p>
            <a:pPr algn="l">
              <a:lnSpc>
                <a:spcPct val="115000"/>
              </a:lnSpc>
              <a:defRPr sz="819" b="0">
                <a:solidFill>
                  <a:srgbClr val="0F172A"/>
                </a:solidFill>
                <a:latin typeface="Consolas"/>
              </a:defRPr>
            </a:pPr>
            <a:r>
              <a:t>• allowUndefinedParams = false</a:t>
            </a:r>
          </a:p>
          <a:p>
            <a:pPr algn="l">
              <a:lnSpc>
                <a:spcPct val="115000"/>
              </a:lnSpc>
              <a:defRPr sz="819" b="1">
                <a:solidFill>
                  <a:srgbClr val="2563EB"/>
                </a:solidFill>
                <a:latin typeface="Consolas"/>
              </a:defRPr>
            </a:pPr>
            <a:r>
              <a:t>• params = {page, size, sort, order, lang, keyword}</a:t>
            </a:r>
          </a:p>
        </p:txBody>
      </p:sp>
      <p:sp>
        <p:nvSpPr>
          <p:cNvPr id="85" name="Down Arrow 84"/>
          <p:cNvSpPr/>
          <p:nvPr/>
        </p:nvSpPr>
        <p:spPr>
          <a:xfrm>
            <a:off x="8366760" y="3127248"/>
            <a:ext cx="274320" cy="237744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05088" y="3136392"/>
            <a:ext cx="283464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50" b="1">
                <a:solidFill>
                  <a:srgbClr val="0D9488"/>
                </a:solidFill>
                <a:latin typeface="Malgun Gothic"/>
              </a:defRPr>
            </a:pPr>
            <a:r>
              <a:t>inheritFrom(defaultPolicy) 기본 정책 자동 상속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479792" y="3401568"/>
            <a:ext cx="4178808" cy="2029968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571231" y="3474720"/>
            <a:ext cx="3995928" cy="2286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[2] 개별 서블릿 정책 (target="/aemapi/member/register")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71231" y="3749039"/>
            <a:ext cx="3995928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defRPr sz="800" b="1">
                <a:solidFill>
                  <a:srgbClr val="2563EB"/>
                </a:solidFill>
                <a:latin typeface="Malgun Gothic"/>
              </a:defRPr>
            </a:pPr>
            <a:r>
              <a:t>• methods = [POST]  ◀ 서블릿 개별 설정으로 재정의(Override)</a:t>
            </a:r>
          </a:p>
          <a:p>
            <a:pPr algn="l">
              <a:lnSpc>
                <a:spcPct val="115000"/>
              </a:lnSpc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• defaultReferrer = "abc.com"  ◀ defaultPolicy 값 상속</a:t>
            </a:r>
          </a:p>
          <a:p>
            <a:pPr algn="l">
              <a:lnSpc>
                <a:spcPct val="115000"/>
              </a:lnSpc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• blockSqlInjection = true, blockXss = true  ◀ 상속</a:t>
            </a:r>
          </a:p>
          <a:p>
            <a:pPr algn="l">
              <a:lnSpc>
                <a:spcPct val="115000"/>
              </a:lnSpc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• allowUndefinedParams = false  ◀ defaultPolicy 값 상속</a:t>
            </a:r>
          </a:p>
          <a:p>
            <a:pPr algn="l">
              <a:lnSpc>
                <a:spcPct val="115000"/>
              </a:lnSpc>
              <a:defRPr sz="800" b="1">
                <a:solidFill>
                  <a:srgbClr val="0F172A"/>
                </a:solidFill>
                <a:latin typeface="Consolas"/>
              </a:defRPr>
            </a:pPr>
            <a:r>
              <a:t>• params = {</a:t>
            </a:r>
          </a:p>
          <a:p>
            <a:pPr algn="l">
              <a:lnSpc>
                <a:spcPct val="115000"/>
              </a:lnSpc>
              <a:defRPr sz="800" b="1">
                <a:solidFill>
                  <a:srgbClr val="0D9488"/>
                </a:solidFill>
                <a:latin typeface="Malgun Gothic"/>
              </a:defRPr>
            </a:pPr>
            <a:r>
              <a:t>    page, size, sort, ...  ◀ 기본 공통 파라미터 자동 상속!</a:t>
            </a:r>
          </a:p>
          <a:p>
            <a:pPr algn="l">
              <a:lnSpc>
                <a:spcPct val="115000"/>
              </a:lnSpc>
              <a:defRPr sz="800" b="1">
                <a:solidFill>
                  <a:srgbClr val="4F46E5"/>
                </a:solidFill>
                <a:latin typeface="Malgun Gothic"/>
              </a:defRPr>
            </a:pPr>
            <a:r>
              <a:t>    userId, email, ...     ◀ 서블릿 전용 파라미터 추가/병합!</a:t>
            </a:r>
          </a:p>
          <a:p>
            <a:pPr algn="l">
              <a:lnSpc>
                <a:spcPct val="115000"/>
              </a:lnSpc>
              <a:defRPr sz="800" b="1">
                <a:solidFill>
                  <a:srgbClr val="0F172A"/>
                </a:solidFill>
                <a:latin typeface="Consolas"/>
              </a:defRPr>
            </a:pPr>
            <a:r>
              <a:t>  }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479792" y="5522976"/>
            <a:ext cx="4178808" cy="95097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571231" y="5577840"/>
            <a:ext cx="3995928" cy="8412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6000"/>
              </a:lnSpc>
              <a:defRPr sz="880" b="1">
                <a:solidFill>
                  <a:srgbClr val="FCD34D"/>
                </a:solidFill>
                <a:latin typeface="Malgun Gothic"/>
              </a:defRPr>
            </a:pPr>
            <a:r>
              <a:t>[설계 포인트] 바인딩 로그 노이즈 차단 설계</a:t>
            </a:r>
          </a:p>
          <a:p>
            <a:pPr algn="l">
              <a:lnSpc>
                <a:spcPct val="116000"/>
              </a:lnSpc>
              <a:defRPr sz="780" b="0">
                <a:solidFill>
                  <a:srgbClr val="FFFFFF"/>
                </a:solidFill>
                <a:latin typeface="Malgun Gothic"/>
              </a:defRPr>
            </a:pPr>
            <a:r>
              <a:t>AEM 기동 시 수백 개의 서블릿이 바인딩/언바인딩되므로 bindServlet, unbindServlet,</a:t>
            </a:r>
          </a:p>
          <a:p>
            <a:pPr algn="l">
              <a:lnSpc>
                <a:spcPct val="116000"/>
              </a:lnSpc>
              <a:defRPr sz="780" b="0">
                <a:solidFill>
                  <a:srgbClr val="FFFFFF"/>
                </a:solidFill>
                <a:latin typeface="Malgun Gothic"/>
              </a:defRPr>
            </a:pPr>
            <a:r>
              <a:t>registerDynamicPolicy 내부에서는 디버그 로그를 출력하지 않아 로그 폭증을 원천 방지합니다.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4231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07. LIFECYCLE — PHASE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필터 생명주기 및 처리 흐름도 [Phase 3: 실시간 요청 검증 (doFilter)]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01168"/>
            <a:ext cx="78638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클라이언트 HTTP 요청 가로채기 · 정책 매칭 · 3대 검증기 체인 실행 · 통과(PASS) 및 차단(Fail-Fast) 흐름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08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25296"/>
            <a:ext cx="7452360" cy="5376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7844" y="2176272"/>
            <a:ext cx="27432" cy="431596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2324" y="2176272"/>
            <a:ext cx="27432" cy="431596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38244" y="2176272"/>
            <a:ext cx="27432" cy="431596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01284" y="2176272"/>
            <a:ext cx="27432" cy="431596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72884" y="2176272"/>
            <a:ext cx="27432" cy="431596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19" y="1280160"/>
            <a:ext cx="182880" cy="18288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5100" y="1463039"/>
            <a:ext cx="32918" cy="201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5" y="1517904"/>
            <a:ext cx="292608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0975" y="1655063"/>
            <a:ext cx="201168" cy="292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5" y="1664207"/>
            <a:ext cx="32004" cy="1280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20139" y="1664207"/>
            <a:ext cx="32004" cy="1280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4339" y="1810512"/>
            <a:ext cx="123444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1" y="1819655"/>
            <a:ext cx="1179576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defRPr sz="880" b="1">
                <a:solidFill>
                  <a:srgbClr val="FFFFFF"/>
                </a:solidFill>
                <a:latin typeface="Malgun Gothic"/>
              </a:defRPr>
            </a:pPr>
            <a:r>
              <a:t>웹 브라우저</a:t>
            </a:r>
          </a:p>
          <a:p>
            <a:pPr algn="ctr">
              <a:lnSpc>
                <a:spcPct val="105000"/>
              </a:lnSpc>
              <a:defRPr sz="720" b="0">
                <a:solidFill>
                  <a:srgbClr val="94A3B8"/>
                </a:solidFill>
                <a:latin typeface="Malgun Gothic"/>
              </a:defRPr>
            </a:pPr>
            <a:r>
              <a:t>(Client)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43100" y="1627631"/>
            <a:ext cx="1325880" cy="530352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79676" y="1664207"/>
            <a:ext cx="125272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SecurityFilter</a:t>
            </a:r>
          </a:p>
          <a:p>
            <a:pPr algn="ctr">
              <a:lnSpc>
                <a:spcPct val="110000"/>
              </a:lnSpc>
              <a:defRPr sz="740" b="0">
                <a:solidFill>
                  <a:srgbClr val="FFFFFF"/>
                </a:solidFill>
                <a:latin typeface="Malgun Gothic"/>
              </a:defRPr>
            </a:pPr>
            <a:r>
              <a:t>Filter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97580" y="1627631"/>
            <a:ext cx="1508760" cy="530352"/>
          </a:xfrm>
          <a:prstGeom prst="roundRect">
            <a:avLst>
              <a:gd name="adj" fmla="val 4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4156" y="1664207"/>
            <a:ext cx="1435607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ServletSecurityConfig</a:t>
            </a:r>
          </a:p>
          <a:p>
            <a:pPr algn="ctr">
              <a:lnSpc>
                <a:spcPct val="110000"/>
              </a:lnSpc>
              <a:defRPr sz="740" b="0">
                <a:solidFill>
                  <a:srgbClr val="FFFFFF"/>
                </a:solidFill>
                <a:latin typeface="Malgun Gothic"/>
              </a:defRPr>
            </a:pPr>
            <a:r>
              <a:t>Config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1627631"/>
            <a:ext cx="1188720" cy="530352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57216" y="1664207"/>
            <a:ext cx="11155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대상 서블릿</a:t>
            </a:r>
          </a:p>
          <a:p>
            <a:pPr algn="ctr">
              <a:lnSpc>
                <a:spcPct val="110000"/>
              </a:lnSpc>
              <a:defRPr sz="740" b="0">
                <a:solidFill>
                  <a:srgbClr val="FFFFFF"/>
                </a:solidFill>
                <a:latin typeface="Malgun Gothic"/>
              </a:defRPr>
            </a:pPr>
            <a:r>
              <a:t>Servlet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23660" y="1627631"/>
            <a:ext cx="1325880" cy="530352"/>
          </a:xfrm>
          <a:prstGeom prst="roundRect">
            <a:avLst>
              <a:gd name="adj" fmla="val 4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1664207"/>
            <a:ext cx="125272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3대 검증기 체인</a:t>
            </a:r>
          </a:p>
          <a:p>
            <a:pPr algn="ctr">
              <a:lnSpc>
                <a:spcPct val="110000"/>
              </a:lnSpc>
              <a:defRPr sz="740" b="0">
                <a:solidFill>
                  <a:srgbClr val="FFFFFF"/>
                </a:solidFill>
                <a:latin typeface="Malgun Gothic"/>
              </a:defRPr>
            </a:pPr>
            <a:r>
              <a:t>Chain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2212848"/>
            <a:ext cx="7178040" cy="2286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2240279"/>
            <a:ext cx="7031736" cy="1737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900" b="1">
                <a:solidFill>
                  <a:srgbClr val="0F172A"/>
                </a:solidFill>
                <a:latin typeface="Malgun Gothic"/>
              </a:defRPr>
            </a:pPr>
            <a:r>
              <a:t>[Phase 3: 실시간 요청 검증 (doFilter)]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5820" y="2478024"/>
            <a:ext cx="196596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82396" y="2496312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6" y="2505456"/>
            <a:ext cx="164592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" y="2487168"/>
            <a:ext cx="16916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760" b="1">
                <a:solidFill>
                  <a:srgbClr val="0F172A"/>
                </a:solidFill>
                <a:latin typeface="Malgun Gothic"/>
              </a:defRPr>
            </a:pPr>
            <a:r>
              <a:t>doFilter(request, response)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2706624"/>
            <a:ext cx="1554480" cy="3108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3" y="2686507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2478024" y="2660904"/>
            <a:ext cx="128016" cy="1188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06040" y="2843784"/>
            <a:ext cx="292608" cy="292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69387" y="2843784"/>
            <a:ext cx="2926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06624" y="2997403"/>
            <a:ext cx="192024" cy="292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eft Arrow 42"/>
          <p:cNvSpPr/>
          <p:nvPr/>
        </p:nvSpPr>
        <p:spPr>
          <a:xfrm>
            <a:off x="2606040" y="2953512"/>
            <a:ext cx="128016" cy="118872"/>
          </a:xfrm>
          <a:prstGeom prst="lef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14600" y="2816352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14600" y="2825496"/>
            <a:ext cx="1828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4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53512" y="2807208"/>
            <a:ext cx="2788920" cy="2194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08376" y="2816352"/>
            <a:ext cx="2679191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defRPr sz="780" b="1">
                <a:solidFill>
                  <a:srgbClr val="0F172A"/>
                </a:solidFill>
                <a:latin typeface="Malgun Gothic"/>
              </a:defRPr>
            </a:pPr>
            <a:r>
              <a:t>1. Bypass 조건 검사 (enabled? pattern 일치?)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623060" y="3127248"/>
            <a:ext cx="361188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659636" y="3145536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59636" y="3154679"/>
            <a:ext cx="164592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60804" y="3136391"/>
            <a:ext cx="33375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760" b="1">
                <a:solidFill>
                  <a:srgbClr val="0F172A"/>
                </a:solidFill>
                <a:latin typeface="Malgun Gothic"/>
              </a:defRPr>
            </a:pPr>
            <a:r>
              <a:t>2. 요청 URI/ResourceType 매칭 정책 탐색 (findMatchingPolicy)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06040" y="3355848"/>
            <a:ext cx="1645920" cy="3108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569464" y="3335731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ight Arrow 53"/>
          <p:cNvSpPr/>
          <p:nvPr/>
        </p:nvSpPr>
        <p:spPr>
          <a:xfrm>
            <a:off x="4123944" y="3310128"/>
            <a:ext cx="128016" cy="11887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011680" y="3456432"/>
            <a:ext cx="283464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48256" y="3474720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48256" y="3483863"/>
            <a:ext cx="164592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49424" y="3465575"/>
            <a:ext cx="25603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760" b="1">
                <a:solidFill>
                  <a:srgbClr val="0F172A"/>
                </a:solidFill>
                <a:latin typeface="Malgun Gothic"/>
              </a:defRPr>
            </a:pPr>
            <a:r>
              <a:t>matchedPolicy 반환 (없으면 defaultPolicy)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34056" y="3685032"/>
            <a:ext cx="10972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898648" y="3685032"/>
            <a:ext cx="10972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063240" y="3685032"/>
            <a:ext cx="10972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27832" y="3685032"/>
            <a:ext cx="10972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392424" y="3685032"/>
            <a:ext cx="10972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557016" y="3685032"/>
            <a:ext cx="10972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721608" y="3685032"/>
            <a:ext cx="10972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886200" y="3685032"/>
            <a:ext cx="10972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050792" y="3685032"/>
            <a:ext cx="10972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15384" y="3685032"/>
            <a:ext cx="36576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215384" y="3664915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ft Arrow 69"/>
          <p:cNvSpPr/>
          <p:nvPr/>
        </p:nvSpPr>
        <p:spPr>
          <a:xfrm>
            <a:off x="2606040" y="3639312"/>
            <a:ext cx="128016" cy="118872"/>
          </a:xfrm>
          <a:prstGeom prst="lef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131820" y="3785615"/>
            <a:ext cx="342900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168396" y="3803903"/>
            <a:ext cx="164592" cy="16459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168396" y="3813047"/>
            <a:ext cx="164592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69564" y="3794759"/>
            <a:ext cx="3154679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760" b="1">
                <a:solidFill>
                  <a:srgbClr val="0F172A"/>
                </a:solidFill>
                <a:latin typeface="Malgun Gothic"/>
              </a:defRPr>
            </a:pPr>
            <a:r>
              <a:t>3. 3대 검증기 순차 실행 (Referer ➔ Method ➔ Param)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606040" y="4014215"/>
            <a:ext cx="4480560" cy="3108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569464" y="3994099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ight Arrow 76"/>
          <p:cNvSpPr/>
          <p:nvPr/>
        </p:nvSpPr>
        <p:spPr>
          <a:xfrm>
            <a:off x="6958584" y="3968496"/>
            <a:ext cx="128016" cy="118872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995160" y="4187952"/>
            <a:ext cx="182880" cy="1828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995160" y="4197096"/>
            <a:ext cx="1828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680" b="1">
                <a:solidFill>
                  <a:srgbClr val="FFFFFF"/>
                </a:solidFill>
                <a:latin typeface="Malgun Gothic"/>
              </a:defRPr>
            </a:pPr>
            <a:r>
              <a:t>6~8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584448" y="4133087"/>
            <a:ext cx="3401568" cy="658368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397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600" y="4160520"/>
            <a:ext cx="3273552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4000"/>
              </a:lnSpc>
              <a:defRPr sz="760" b="1">
                <a:solidFill>
                  <a:srgbClr val="0D9488"/>
                </a:solidFill>
                <a:latin typeface="Malgun Gothic"/>
              </a:defRPr>
            </a:pPr>
            <a:r>
              <a:t>⑥ Chain ➔ Chain : ① RefererPolicyValidator (도메인 검증 ➔ 위반 시 403)</a:t>
            </a:r>
          </a:p>
          <a:p>
            <a:pPr algn="l">
              <a:lnSpc>
                <a:spcPct val="114000"/>
              </a:lnSpc>
              <a:defRPr sz="760" b="1">
                <a:solidFill>
                  <a:srgbClr val="2563EB"/>
                </a:solidFill>
                <a:latin typeface="Malgun Gothic"/>
              </a:defRPr>
            </a:pPr>
            <a:r>
              <a:t>⑦ Chain ➔ Chain : ② MethodPolicyValidator (HTTP 메서드 검증 ➔ 위반 시 405)</a:t>
            </a:r>
          </a:p>
          <a:p>
            <a:pPr algn="l">
              <a:lnSpc>
                <a:spcPct val="114000"/>
              </a:lnSpc>
              <a:defRPr sz="760" b="1">
                <a:solidFill>
                  <a:srgbClr val="4F46E5"/>
                </a:solidFill>
                <a:latin typeface="Malgun Gothic"/>
              </a:defRPr>
            </a:pPr>
            <a:r>
              <a:t>⑧ Chain ➔ Chain : ③ ParamPolicyValidator (필수/길이/SQLi/XSS ➔ 위반 시 400)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" y="4864608"/>
            <a:ext cx="7178040" cy="804672"/>
          </a:xfrm>
          <a:prstGeom prst="rect">
            <a:avLst/>
          </a:prstGeom>
          <a:solidFill>
            <a:srgbClr val="F0FDF4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02920" y="4864608"/>
            <a:ext cx="1691640" cy="18288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</a:defRPr>
            </a:pPr>
            <a:r>
              <a:t>[alt] 모든 검증 통과 (PASS)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680460" y="4919472"/>
            <a:ext cx="233172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717036" y="4937759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717036" y="4946903"/>
            <a:ext cx="164592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18204" y="4928616"/>
            <a:ext cx="2057399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760" b="1">
                <a:solidFill>
                  <a:srgbClr val="0F172A"/>
                </a:solidFill>
                <a:latin typeface="Malgun Gothic"/>
              </a:defRPr>
            </a:pPr>
            <a:r>
              <a:t>검증 성공 (ValidationResult.ok)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34056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898648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063240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27832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392424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557016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21608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886200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050792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215384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379976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544568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709159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873751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038343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202935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367527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532119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696711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861303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025895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190487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355079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519671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684263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48855" y="5148072"/>
            <a:ext cx="109728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013447" y="5148072"/>
            <a:ext cx="73152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050024" y="5127955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Left Arrow 115"/>
          <p:cNvSpPr/>
          <p:nvPr/>
        </p:nvSpPr>
        <p:spPr>
          <a:xfrm>
            <a:off x="2606040" y="5102352"/>
            <a:ext cx="128016" cy="118872"/>
          </a:xfrm>
          <a:prstGeom prst="lef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2994660" y="5285232"/>
            <a:ext cx="233172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3031236" y="5303520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031236" y="5312664"/>
            <a:ext cx="164592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232404" y="5294376"/>
            <a:ext cx="2057399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760" b="1">
                <a:solidFill>
                  <a:srgbClr val="0F172A"/>
                </a:solidFill>
                <a:latin typeface="Malgun Gothic"/>
              </a:defRPr>
            </a:pPr>
            <a:r>
              <a:t>chain.doFilter() 대상 서블릿 실행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606040" y="5513832"/>
            <a:ext cx="3108960" cy="3108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2569464" y="5493715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ight Arrow 122"/>
          <p:cNvSpPr/>
          <p:nvPr/>
        </p:nvSpPr>
        <p:spPr>
          <a:xfrm>
            <a:off x="5586984" y="5468112"/>
            <a:ext cx="128016" cy="118872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02920" y="5669280"/>
            <a:ext cx="7178040" cy="841248"/>
          </a:xfrm>
          <a:prstGeom prst="rect">
            <a:avLst/>
          </a:prstGeom>
          <a:solidFill>
            <a:srgbClr val="FEF2F2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502920" y="5669280"/>
            <a:ext cx="1783080" cy="18288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</a:defRPr>
            </a:pPr>
            <a:r>
              <a:t>[else] 하나라도 위반 (Fail-Fast)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268980" y="5724144"/>
            <a:ext cx="315468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305556" y="5742431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305556" y="5751575"/>
            <a:ext cx="164592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506724" y="5733288"/>
            <a:ext cx="28803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760" b="1">
                <a:solidFill>
                  <a:srgbClr val="0F172A"/>
                </a:solidFill>
                <a:latin typeface="Malgun Gothic"/>
              </a:defRPr>
            </a:pPr>
            <a:r>
              <a:t>ValidationResult(FAIL, 에러코드, BlockedByConfig)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734056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898648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063240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227832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392424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557016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721608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886200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050792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215384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379976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544568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4709159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873751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038343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02935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67527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2119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96711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61303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025895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190487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355079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519671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684263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848855" y="5952744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013447" y="5952744"/>
            <a:ext cx="73152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050024" y="5932627"/>
            <a:ext cx="73152" cy="7315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Left Arrow 157"/>
          <p:cNvSpPr/>
          <p:nvPr/>
        </p:nvSpPr>
        <p:spPr>
          <a:xfrm>
            <a:off x="2606040" y="5907024"/>
            <a:ext cx="128016" cy="118872"/>
          </a:xfrm>
          <a:prstGeom prst="lef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530352" y="6108192"/>
            <a:ext cx="292608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566928" y="6126479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66928" y="6135623"/>
            <a:ext cx="164592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20" b="1">
                <a:solidFill>
                  <a:srgbClr val="FFFFFF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8096" y="6117336"/>
            <a:ext cx="2651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760" b="1">
                <a:solidFill>
                  <a:srgbClr val="0F172A"/>
                </a:solidFill>
                <a:latin typeface="Malgun Gothic"/>
              </a:defRPr>
            </a:pPr>
            <a:r>
              <a:t>handleSecurityViolation() 에러 JSON 즉시 반환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179576" y="6336792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344168" y="6336792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508760" y="6336792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673351" y="6336792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837943" y="6336792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2002536" y="6336792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2167128" y="6336792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2331720" y="6336792"/>
            <a:ext cx="109728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2496312" y="6336792"/>
            <a:ext cx="109727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2569464" y="6316675"/>
            <a:ext cx="73152" cy="7315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Left Arrow 172"/>
          <p:cNvSpPr/>
          <p:nvPr/>
        </p:nvSpPr>
        <p:spPr>
          <a:xfrm>
            <a:off x="1051560" y="6291072"/>
            <a:ext cx="128016" cy="118872"/>
          </a:xfrm>
          <a:prstGeom prst="lef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7955279" y="1225296"/>
            <a:ext cx="3867912" cy="5376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955279" y="1225296"/>
            <a:ext cx="3867912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065008" y="128016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1080" b="1">
                <a:solidFill>
                  <a:srgbClr val="FFFFFF"/>
                </a:solidFill>
                <a:latin typeface="Malgun Gothic"/>
              </a:defRPr>
            </a:pPr>
            <a:r>
              <a:t>요청 가로채기 및 검증 관점 (doFilter) 핵심 동작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8083296" y="1682496"/>
            <a:ext cx="3611880" cy="89611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39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8156448" y="1737360"/>
            <a:ext cx="3465576" cy="219456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1. 1차 필터링 및 건너뛰기 (Bypass)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156448" y="1984248"/>
            <a:ext cx="3465576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defRPr sz="760" b="0">
                <a:solidFill>
                  <a:srgbClr val="0F172A"/>
                </a:solidFill>
                <a:latin typeface="Malgun Gothic"/>
              </a:defRPr>
            </a:pPr>
            <a:r>
              <a:t>• 필터 전역 비활성(enabled=false), 비 HTTP 요청, 또는 URI가</a:t>
            </a:r>
          </a:p>
          <a:p>
            <a:pPr algn="l">
              <a:lnSpc>
                <a:spcPct val="112000"/>
              </a:lnSpc>
              <a:defRPr sz="760" b="0">
                <a:solidFill>
                  <a:srgbClr val="0F172A"/>
                </a:solidFill>
                <a:latin typeface="Malgun Gothic"/>
              </a:defRPr>
            </a:pPr>
            <a:r>
              <a:t>  sling.filter.pattern과 매칭되지 않으면 즉시 chain.doFilter 통과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8083296" y="2651760"/>
            <a:ext cx="3611880" cy="11155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397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8156448" y="2706624"/>
            <a:ext cx="3465576" cy="21945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2. 대상 정책 조회 (evaluatePoliciesAndFindActive)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156448" y="2953512"/>
            <a:ext cx="3465576" cy="7863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defRPr sz="760" b="0">
                <a:solidFill>
                  <a:srgbClr val="0F172A"/>
                </a:solidFill>
                <a:latin typeface="Malgun Gothic"/>
              </a:defRPr>
            </a:pPr>
            <a:r>
              <a:t>• ignoreServletPolicies=true이면 글로벌 defaultPolicy 강제 적용</a:t>
            </a:r>
          </a:p>
          <a:p>
            <a:pPr algn="l">
              <a:lnSpc>
                <a:spcPct val="112000"/>
              </a:lnSpc>
              <a:defRPr sz="760" b="0">
                <a:solidFill>
                  <a:srgbClr val="0F172A"/>
                </a:solidFill>
                <a:latin typeface="Malgun Gothic"/>
              </a:defRPr>
            </a:pPr>
            <a:r>
              <a:t>• findMatchingPolicy(request)로 URI·ResourceType 매칭 정책</a:t>
            </a:r>
          </a:p>
          <a:p>
            <a:pPr algn="l">
              <a:lnSpc>
                <a:spcPct val="112000"/>
              </a:lnSpc>
              <a:defRPr sz="760" b="0">
                <a:solidFill>
                  <a:srgbClr val="0F172A"/>
                </a:solidFill>
                <a:latin typeface="Malgun Gothic"/>
              </a:defRPr>
            </a:pPr>
            <a:r>
              <a:t>  O(1) 조회 (개별 정책이 없으면 defaultPolicy 폴백 적용)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8083296" y="3840480"/>
            <a:ext cx="3611880" cy="1325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397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8156448" y="3895344"/>
            <a:ext cx="3465576" cy="21945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3. 3대 검증기 순차 실행 (Fail-Fast 체인)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156448" y="4142232"/>
            <a:ext cx="3465576" cy="99669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defRPr sz="760" b="0">
                <a:solidFill>
                  <a:srgbClr val="0F172A"/>
                </a:solidFill>
                <a:latin typeface="Malgun Gothic"/>
              </a:defRPr>
            </a:pPr>
            <a:r>
              <a:t>• ① RefererPolicyValidator: 신뢰 도메인 확인 (403 / SEC-40303)</a:t>
            </a:r>
          </a:p>
          <a:p>
            <a:pPr algn="l">
              <a:lnSpc>
                <a:spcPct val="112000"/>
              </a:lnSpc>
              <a:defRPr sz="760" b="0">
                <a:solidFill>
                  <a:srgbClr val="0F172A"/>
                </a:solidFill>
                <a:latin typeface="Malgun Gothic"/>
              </a:defRPr>
            </a:pPr>
            <a:r>
              <a:t>• ② MethodPolicyValidator: 허용 HTTP Method 확인 (405 / SEC-40501)</a:t>
            </a:r>
          </a:p>
          <a:p>
            <a:pPr algn="l">
              <a:lnSpc>
                <a:spcPct val="112000"/>
              </a:lnSpc>
              <a:defRPr sz="760" b="0">
                <a:solidFill>
                  <a:srgbClr val="0F172A"/>
                </a:solidFill>
                <a:latin typeface="Malgun Gothic"/>
              </a:defRPr>
            </a:pPr>
            <a:r>
              <a:t>• ③ ParamPolicyValidator: 필수값, 미정의 파라미터, 길이, 정규식,</a:t>
            </a:r>
          </a:p>
          <a:p>
            <a:pPr algn="l">
              <a:lnSpc>
                <a:spcPct val="112000"/>
              </a:lnSpc>
              <a:defRPr sz="760" b="0">
                <a:solidFill>
                  <a:srgbClr val="0F172A"/>
                </a:solidFill>
                <a:latin typeface="Malgun Gothic"/>
              </a:defRPr>
            </a:pPr>
            <a:r>
              <a:t>  Path Traversal, SQLi/JCRi, XSS 검증 (400 / SEC-40001~9)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8083296" y="5239512"/>
            <a:ext cx="3611880" cy="11155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397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8156448" y="5294376"/>
            <a:ext cx="3465576" cy="219456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4. 결과 처리 (PASS vs FAIL-FAST)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156448" y="5541264"/>
            <a:ext cx="3465576" cy="7863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defRPr sz="760" b="0">
                <a:solidFill>
                  <a:srgbClr val="0F172A"/>
                </a:solidFill>
                <a:latin typeface="Malgun Gothic"/>
              </a:defRPr>
            </a:pPr>
            <a:r>
              <a:t>• [통과 시] PassedConfig 디버그 로깅 후 대상 서블릿 정상 실행</a:t>
            </a:r>
          </a:p>
          <a:p>
            <a:pPr algn="l">
              <a:lnSpc>
                <a:spcPct val="112000"/>
              </a:lnSpc>
              <a:defRPr sz="760" b="0">
                <a:solidFill>
                  <a:srgbClr val="0F172A"/>
                </a:solidFill>
                <a:latin typeface="Malgun Gothic"/>
              </a:defRPr>
            </a:pPr>
            <a:r>
              <a:t>• [위반 시] 서블릿 실행 즉각 중단, BlockedByConfig + AppliedServletPolicy</a:t>
            </a:r>
          </a:p>
          <a:p>
            <a:pPr algn="l">
              <a:lnSpc>
                <a:spcPct val="112000"/>
              </a:lnSpc>
              <a:defRPr sz="760" b="0">
                <a:solidFill>
                  <a:srgbClr val="0F172A"/>
                </a:solidFill>
                <a:latin typeface="Malgun Gothic"/>
              </a:defRPr>
            </a:pPr>
            <a:r>
              <a:t>  WARN 로깅 및 규격화된 에러 JSON 즉시 응답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4231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08. CLASS DIAGRAM (SIMPLE)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핵심 클래스 다이어그램 — 심플 버전 (Core Data 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01168"/>
            <a:ext cx="78638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README 기준 5대 핵심 데이터 모델 계층 구조 및 PolicyValidator 검증 흐름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09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201168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2011680" cy="4023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07592"/>
            <a:ext cx="192024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2000"/>
              </a:lnSpc>
              <a:defRPr sz="750" b="0">
                <a:solidFill>
                  <a:srgbClr val="94A3B8"/>
                </a:solidFill>
                <a:latin typeface="Malgun Gothic"/>
              </a:defRPr>
            </a:pPr>
            <a:r>
              <a:t>«루트 필터»</a:t>
            </a:r>
          </a:p>
          <a:p>
            <a:pPr algn="ctr">
              <a:lnSpc>
                <a:spcPct val="102000"/>
              </a:lnSpc>
              <a:defRPr sz="1050" b="1">
                <a:solidFill>
                  <a:srgbClr val="FFFFFF"/>
                </a:solidFill>
                <a:latin typeface="Consolas"/>
              </a:defRPr>
            </a:pPr>
            <a:r>
              <a:t>SecurityFilter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737360"/>
            <a:ext cx="1865376" cy="1472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enabled : boolean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compiledFilterPattern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servletSecurityConfig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boundServlets : Map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validators : List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───────────────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activate() / bindServlet()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doFilter(req, res, chain)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14016" y="2121408"/>
            <a:ext cx="256032" cy="237744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40864" y="1847088"/>
            <a:ext cx="402336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50" b="1">
                <a:solidFill>
                  <a:srgbClr val="0D9488"/>
                </a:solidFill>
                <a:latin typeface="Malgun Gothic"/>
              </a:defRPr>
            </a:pPr>
            <a:r>
              <a:t>보유(1)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06624" y="1280160"/>
            <a:ext cx="214884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06624" y="1280160"/>
            <a:ext cx="2148840" cy="4023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52344" y="1307592"/>
            <a:ext cx="20574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2000"/>
              </a:lnSpc>
              <a:defRPr sz="750" b="0">
                <a:solidFill>
                  <a:srgbClr val="FFFFFF"/>
                </a:solidFill>
                <a:latin typeface="Malgun Gothic"/>
              </a:defRPr>
            </a:pPr>
            <a:r>
              <a:t>«전체 정책 컨테이너»</a:t>
            </a:r>
          </a:p>
          <a:p>
            <a:pPr algn="ctr">
              <a:lnSpc>
                <a:spcPct val="102000"/>
              </a:lnSpc>
              <a:defRPr sz="1050" b="1">
                <a:solidFill>
                  <a:srgbClr val="FFFFFF"/>
                </a:solidFill>
                <a:latin typeface="Consolas"/>
              </a:defRPr>
            </a:pPr>
            <a:r>
              <a:t>ServletSecurityConfig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9776" y="1737360"/>
            <a:ext cx="2002536" cy="1472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defaultReferrer : String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ignoreServletPolicies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defaultPolicy : Rule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dynamicExactUriMap : Map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dynamicResourceTypeMap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───────────────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findMatchingPolicy(req)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registerDynamicPolicy()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92040" y="2121408"/>
            <a:ext cx="256032" cy="23774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847088"/>
            <a:ext cx="438912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50" b="1">
                <a:solidFill>
                  <a:srgbClr val="2563EB"/>
                </a:solidFill>
                <a:latin typeface="Malgun Gothic"/>
              </a:defRPr>
            </a:pPr>
            <a:r>
              <a:t>1..* 정책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84648" y="1280160"/>
            <a:ext cx="214884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1280160"/>
            <a:ext cx="2148840" cy="4023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0368" y="1307592"/>
            <a:ext cx="20574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2000"/>
              </a:lnSpc>
              <a:defRPr sz="750" b="0">
                <a:solidFill>
                  <a:srgbClr val="FFFFFF"/>
                </a:solidFill>
                <a:latin typeface="Malgun Gothic"/>
              </a:defRPr>
            </a:pPr>
            <a:r>
              <a:t>«타겟별 보안 정책»</a:t>
            </a:r>
          </a:p>
          <a:p>
            <a:pPr algn="ctr">
              <a:lnSpc>
                <a:spcPct val="102000"/>
              </a:lnSpc>
              <a:defRPr sz="1050" b="1">
                <a:solidFill>
                  <a:srgbClr val="FFFFFF"/>
                </a:solidFill>
                <a:latin typeface="Consolas"/>
              </a:defRPr>
            </a:pPr>
            <a:r>
              <a:t>ServletPolicyRule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1737360"/>
            <a:ext cx="2002536" cy="1472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target : String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methods / upperMethods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allowedReferrers : List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allowUndefinedParams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blockSqlInjection / Xss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params : Map&lt;ParamRule&gt;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───────────────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inheritFrom(defaultPolicy)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370064" y="2121408"/>
            <a:ext cx="256032" cy="237744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96912" y="1847088"/>
            <a:ext cx="402336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50" b="1">
                <a:solidFill>
                  <a:srgbClr val="4F46E5"/>
                </a:solidFill>
                <a:latin typeface="Malgun Gothic"/>
              </a:defRPr>
            </a:pPr>
            <a:r>
              <a:t>0..* 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1280160"/>
            <a:ext cx="196596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1280160"/>
            <a:ext cx="1965960" cy="40233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08392" y="1307592"/>
            <a:ext cx="1874519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2000"/>
              </a:lnSpc>
              <a:defRPr sz="750" b="0">
                <a:solidFill>
                  <a:srgbClr val="FFFFFF"/>
                </a:solidFill>
                <a:latin typeface="Malgun Gothic"/>
              </a:defRPr>
            </a:pPr>
            <a:r>
              <a:t>«파라미터 검증 단위»</a:t>
            </a:r>
          </a:p>
          <a:p>
            <a:pPr algn="ctr">
              <a:lnSpc>
                <a:spcPct val="102000"/>
              </a:lnSpc>
              <a:defRPr sz="1050" b="1">
                <a:solidFill>
                  <a:srgbClr val="FFFFFF"/>
                </a:solidFill>
                <a:latin typeface="Consolas"/>
              </a:defRPr>
            </a:pPr>
            <a:r>
              <a:t>ParamRule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4" y="1737360"/>
            <a:ext cx="1819656" cy="1472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required : Boolean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minLength / maxLength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pattern / compiledPattern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allowPathTraversal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allowSqlInjection / Xss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───────────────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init() / validate()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toSummaryString()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665208" y="2121408"/>
            <a:ext cx="256032" cy="237744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92056" y="1847088"/>
            <a:ext cx="402336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50" b="1">
                <a:solidFill>
                  <a:srgbClr val="D97706"/>
                </a:solidFill>
                <a:latin typeface="Malgun Gothic"/>
              </a:defRPr>
            </a:pPr>
            <a:r>
              <a:t>결과반환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57816" y="1280160"/>
            <a:ext cx="1865376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57816" y="1280160"/>
            <a:ext cx="1865376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03536" y="1307592"/>
            <a:ext cx="1773936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2000"/>
              </a:lnSpc>
              <a:defRPr sz="750" b="0">
                <a:solidFill>
                  <a:srgbClr val="FFFFFF"/>
                </a:solidFill>
                <a:latin typeface="Malgun Gothic"/>
              </a:defRPr>
            </a:pPr>
            <a:r>
              <a:t>«검증 결과 DTO»</a:t>
            </a:r>
          </a:p>
          <a:p>
            <a:pPr algn="ctr">
              <a:lnSpc>
                <a:spcPct val="102000"/>
              </a:lnSpc>
              <a:defRPr sz="1050" b="1">
                <a:solidFill>
                  <a:srgbClr val="FFFFFF"/>
                </a:solidFill>
                <a:latin typeface="Consolas"/>
              </a:defRPr>
            </a:pPr>
            <a:r>
              <a:t>ValidationResult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30968" y="1737360"/>
            <a:ext cx="1719072" cy="1472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valid : boolean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statusCode : int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subCode (SEC-XXXXX)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blockedConfig : String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responseMessage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───────────────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ok()</a:t>
            </a:r>
          </a:p>
          <a:p>
            <a:pPr algn="l">
              <a:lnSpc>
                <a:spcPct val="118000"/>
              </a:lnSpc>
              <a:defRPr sz="819" b="0">
                <a:solidFill>
                  <a:srgbClr val="0F172A"/>
                </a:solidFill>
                <a:latin typeface="Malgun Gothic"/>
              </a:defRPr>
            </a:pPr>
            <a:r>
              <a:t>+ errorWithConfig(...)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3364992"/>
            <a:ext cx="11457432" cy="475488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651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7200" y="3438144"/>
            <a:ext cx="2148840" cy="329184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880" b="1">
                <a:solidFill>
                  <a:srgbClr val="FFFFFF"/>
                </a:solidFill>
                <a:latin typeface="Malgun Gothic"/>
              </a:defRPr>
            </a:pPr>
            <a:r>
              <a:t>PolicyValidator (3대 검증기 체인)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3438144"/>
            <a:ext cx="90068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defRPr sz="860" b="1">
                <a:solidFill>
                  <a:srgbClr val="0F172A"/>
                </a:solidFill>
                <a:latin typeface="Malgun Gothic"/>
              </a:defRPr>
            </a:pPr>
            <a:r>
              <a:t>SecurityFilter가 보유한 ① RefererPolicyValidator · ② MethodPolicyValidator · ③ ParamPolicyValidator가 매칭된 ServletPolicyRule / ParamRule을 검증하고 ValidationResult(SecurityErrorCode)를 반환합니다.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3950208"/>
            <a:ext cx="11457432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3950208"/>
            <a:ext cx="11457432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3986784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계층 / 모델 클래스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3986784"/>
            <a:ext cx="3474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역할 및 핵심 보유 데이터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3986784"/>
            <a:ext cx="21945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데이터 원천 (Source)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3986784"/>
            <a:ext cx="32918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핵심 아키텍처 특징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" y="4279392"/>
            <a:ext cx="1142085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306824"/>
            <a:ext cx="20116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800" b="1">
                <a:solidFill>
                  <a:srgbClr val="2563EB"/>
                </a:solidFill>
                <a:latin typeface="Malgun Gothic"/>
              </a:defRPr>
            </a:pPr>
            <a:r>
              <a:t>SecurityFilter</a:t>
            </a:r>
          </a:p>
          <a:p>
            <a:pPr algn="l">
              <a:lnSpc>
                <a:spcPct val="108000"/>
              </a:lnSpc>
              <a:defRPr sz="800" b="1">
                <a:solidFill>
                  <a:srgbClr val="2563EB"/>
                </a:solidFill>
                <a:latin typeface="Malgun Gothic"/>
              </a:defRPr>
            </a:pPr>
            <a:r>
              <a:t>(루트 필터)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0" y="4306824"/>
            <a:ext cx="34747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필터 활성화(enabled) 및 정규식(sling.filter.pattern)</a:t>
            </a:r>
          </a:p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바인딩 서블릿 캐시(boundServlets) &amp; 3대 검증기 체인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4306824"/>
            <a:ext cx="2194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780" b="0">
                <a:solidFill>
                  <a:srgbClr val="334155"/>
                </a:solidFill>
                <a:latin typeface="Malgun Gothic"/>
              </a:defRPr>
            </a:pPr>
            <a:r>
              <a:t>OSGi Configuration Admin</a:t>
            </a:r>
          </a:p>
          <a:p>
            <a:pPr algn="l">
              <a:lnSpc>
                <a:spcPct val="108000"/>
              </a:lnSpc>
              <a:defRPr sz="780" b="0">
                <a:solidFill>
                  <a:srgbClr val="334155"/>
                </a:solidFill>
                <a:latin typeface="Malgun Gothic"/>
              </a:defRPr>
            </a:pPr>
            <a:r>
              <a:t>(SecurityFilter.config)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306824"/>
            <a:ext cx="3337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Sling REQUEST 필터로서 모든 인입 요청의 진입점 역할</a:t>
            </a:r>
          </a:p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수행 및 @Reference 동적 서블릿 감지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" y="4727448"/>
            <a:ext cx="11420856" cy="44805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4754880"/>
            <a:ext cx="20116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800" b="1">
                <a:solidFill>
                  <a:srgbClr val="0D9488"/>
                </a:solidFill>
                <a:latin typeface="Malgun Gothic"/>
              </a:defRPr>
            </a:pPr>
            <a:r>
              <a:t>ServletSecurityConfig</a:t>
            </a:r>
          </a:p>
          <a:p>
            <a:pPr algn="l">
              <a:lnSpc>
                <a:spcPct val="108000"/>
              </a:lnSpc>
              <a:defRPr sz="800" b="1">
                <a:solidFill>
                  <a:srgbClr val="0D9488"/>
                </a:solidFill>
                <a:latin typeface="Malgun Gothic"/>
              </a:defRPr>
            </a:pPr>
            <a:r>
              <a:t>(전체 정책 컨테이너)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0320" y="4754880"/>
            <a:ext cx="34747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전역 기본 정책(defaultPolicy) &amp; 서블릿 정책 컬렉션</a:t>
            </a:r>
          </a:p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O(1) 고속 인덱스(dynamicExactUriMap, ResourceTypeMap)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4754880"/>
            <a:ext cx="2194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780" b="0">
                <a:solidFill>
                  <a:srgbClr val="334155"/>
                </a:solidFill>
                <a:latin typeface="Malgun Gothic"/>
              </a:defRPr>
            </a:pPr>
            <a:r>
              <a:t>SecurityFilter.config +</a:t>
            </a:r>
          </a:p>
          <a:p>
            <a:pPr algn="l">
              <a:lnSpc>
                <a:spcPct val="108000"/>
              </a:lnSpc>
              <a:defRPr sz="780" b="0">
                <a:solidFill>
                  <a:srgbClr val="334155"/>
                </a:solidFill>
                <a:latin typeface="Malgun Gothic"/>
              </a:defRPr>
            </a:pPr>
            <a:r>
              <a:t>동적 바인딩 서블릿 프로퍼티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4754880"/>
            <a:ext cx="3337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요청 인입 시 6단계 우선순위(URI ➔ ResourceType ➔</a:t>
            </a:r>
          </a:p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정규식 ➔ Default)로 O(1) 고속 탐색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048" y="5175504"/>
            <a:ext cx="1142085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202936"/>
            <a:ext cx="20116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800" b="1">
                <a:solidFill>
                  <a:srgbClr val="2563EB"/>
                </a:solidFill>
                <a:latin typeface="Malgun Gothic"/>
              </a:defRPr>
            </a:pPr>
            <a:r>
              <a:t>ServletPolicyRule</a:t>
            </a:r>
          </a:p>
          <a:p>
            <a:pPr algn="l">
              <a:lnSpc>
                <a:spcPct val="108000"/>
              </a:lnSpc>
              <a:defRPr sz="800" b="1">
                <a:solidFill>
                  <a:srgbClr val="2563EB"/>
                </a:solidFill>
                <a:latin typeface="Malgun Gothic"/>
              </a:defRPr>
            </a:pPr>
            <a:r>
              <a:t>(타겟별 보안 정책)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60320" y="5202936"/>
            <a:ext cx="34747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타겟 경로/리소스타입, 허용 Method, 허용 Referer</a:t>
            </a:r>
          </a:p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SQLi/XSS 차단 플래그, 미정의 파라미터 허용, params 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5202936"/>
            <a:ext cx="2194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780" b="0">
                <a:solidFill>
                  <a:srgbClr val="334155"/>
                </a:solidFill>
                <a:latin typeface="Malgun Gothic"/>
              </a:defRPr>
            </a:pPr>
            <a:r>
              <a:t>서블릿 @Component</a:t>
            </a:r>
          </a:p>
          <a:p>
            <a:pPr algn="l">
              <a:lnSpc>
                <a:spcPct val="108000"/>
              </a:lnSpc>
              <a:defRPr sz="780" b="0">
                <a:solidFill>
                  <a:srgbClr val="334155"/>
                </a:solidFill>
                <a:latin typeface="Malgun Gothic"/>
              </a:defRPr>
            </a:pPr>
            <a:r>
              <a:t>security.* 프로퍼티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5202936"/>
            <a:ext cx="3337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inheritFrom(defaultPolicy)를 통해 미선언 기본값 및</a:t>
            </a:r>
          </a:p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공통 파라미터(default.params) 자동 상속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" y="5623560"/>
            <a:ext cx="11420856" cy="44805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650992"/>
            <a:ext cx="20116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800" b="1">
                <a:solidFill>
                  <a:srgbClr val="4F46E5"/>
                </a:solidFill>
                <a:latin typeface="Malgun Gothic"/>
              </a:defRPr>
            </a:pPr>
            <a:r>
              <a:t>ParamRule</a:t>
            </a:r>
          </a:p>
          <a:p>
            <a:pPr algn="l">
              <a:lnSpc>
                <a:spcPct val="108000"/>
              </a:lnSpc>
              <a:defRPr sz="800" b="1">
                <a:solidFill>
                  <a:srgbClr val="4F46E5"/>
                </a:solidFill>
                <a:latin typeface="Malgun Gothic"/>
              </a:defRPr>
            </a:pPr>
            <a:r>
              <a:t>(파라미터 검증 단위)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60320" y="5650992"/>
            <a:ext cx="34747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필수 여부(required), 길이 제약(minLength, maxLength)</a:t>
            </a:r>
          </a:p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사전 컴파일 정규식(compiledPattern) 및 공격 예외 플래그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0" y="5650992"/>
            <a:ext cx="2194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780" b="0">
                <a:solidFill>
                  <a:srgbClr val="334155"/>
                </a:solidFill>
                <a:latin typeface="Malgun Gothic"/>
              </a:defRPr>
            </a:pPr>
            <a:r>
              <a:t>서블릿 security.params DSL</a:t>
            </a:r>
          </a:p>
          <a:p>
            <a:pPr algn="l">
              <a:lnSpc>
                <a:spcPct val="108000"/>
              </a:lnSpc>
              <a:defRPr sz="780" b="0">
                <a:solidFill>
                  <a:srgbClr val="334155"/>
                </a:solidFill>
                <a:latin typeface="Malgun Gothic"/>
              </a:defRPr>
            </a:pPr>
            <a:r>
              <a:t>또는 JSON 속성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5650992"/>
            <a:ext cx="3337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파라미터 값마다 길이, 정규식, PathTraversal·SQLi·XSS</a:t>
            </a:r>
          </a:p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공격 시그니처를 정밀 검증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4048" y="6071616"/>
            <a:ext cx="11420856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6099048"/>
            <a:ext cx="20116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800" b="1">
                <a:solidFill>
                  <a:srgbClr val="D97706"/>
                </a:solidFill>
                <a:latin typeface="Malgun Gothic"/>
              </a:defRPr>
            </a:pPr>
            <a:r>
              <a:t>ValidationResult</a:t>
            </a:r>
          </a:p>
          <a:p>
            <a:pPr algn="l">
              <a:lnSpc>
                <a:spcPct val="108000"/>
              </a:lnSpc>
              <a:defRPr sz="800" b="1">
                <a:solidFill>
                  <a:srgbClr val="D97706"/>
                </a:solidFill>
                <a:latin typeface="Malgun Gothic"/>
              </a:defRPr>
            </a:pPr>
            <a:r>
              <a:t>(검증 결과 DTO)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60320" y="6099048"/>
            <a:ext cx="34747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검증 성공 여부(valid), HTTP 상태 코드(400, 403, 405)</a:t>
            </a:r>
          </a:p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• 표준 에러 코드(SEC-40001~40501) 및 차단 원인(BlockedByConfig)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26480" y="6099048"/>
            <a:ext cx="2194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780" b="0">
                <a:solidFill>
                  <a:srgbClr val="334155"/>
                </a:solidFill>
                <a:latin typeface="Malgun Gothic"/>
              </a:defRPr>
            </a:pPr>
            <a:r>
              <a:t>각 PolicyValidator</a:t>
            </a:r>
          </a:p>
          <a:p>
            <a:pPr algn="l">
              <a:lnSpc>
                <a:spcPct val="108000"/>
              </a:lnSpc>
              <a:defRPr sz="780" b="0">
                <a:solidFill>
                  <a:srgbClr val="334155"/>
                </a:solidFill>
                <a:latin typeface="Malgun Gothic"/>
              </a:defRPr>
            </a:pPr>
            <a:r>
              <a:t>검증 실행 시 생성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0" y="6099048"/>
            <a:ext cx="3337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검증 실패 시 상위 필터로 차단 설정 원인을 전달하여</a:t>
            </a:r>
          </a:p>
          <a:p>
            <a:pPr algn="l">
              <a:lnSpc>
                <a:spcPct val="108000"/>
              </a:lnSpc>
              <a:defRPr sz="780" b="0">
                <a:solidFill>
                  <a:srgbClr val="0F172A"/>
                </a:solidFill>
                <a:latin typeface="Malgun Gothic"/>
              </a:defRPr>
            </a:pPr>
            <a:r>
              <a:t>즉각적인 Fail-Fast JSON 응답 생성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24231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09. CLASS DIAGRAM (DETAILED)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98755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핵심 클래스 다이어그램 및 데이터 모델 관계도 — 상세 버전 (Full UML)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01168"/>
            <a:ext cx="78638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com.example.security 패키지 전체 12개 클래스 · 인터페이스 · 열거형 필드/메서드 및 관계 명세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18000"/>
              </a:lnSpc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10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25296"/>
            <a:ext cx="269748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25296"/>
            <a:ext cx="269748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243584"/>
            <a:ext cx="2624328" cy="36575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2000"/>
              </a:lnSpc>
              <a:defRPr sz="720" b="0">
                <a:solidFill>
                  <a:srgbClr val="94A3B8"/>
                </a:solidFill>
                <a:latin typeface="Consolas"/>
              </a:defRPr>
            </a:pPr>
            <a:r>
              <a:t>«OSGi @Component Filter»</a:t>
            </a:r>
          </a:p>
          <a:p>
            <a:pPr algn="ctr">
              <a:lnSpc>
                <a:spcPct val="102000"/>
              </a:lnSpc>
              <a:defRPr sz="950" b="1">
                <a:solidFill>
                  <a:srgbClr val="FFFFFF"/>
                </a:solidFill>
                <a:latin typeface="Consolas"/>
              </a:defRPr>
            </a:pPr>
            <a:r>
              <a:t>SecurityFilter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36776"/>
            <a:ext cx="2606040" cy="10012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enabled : boolean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filterPattern : String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compiledFilterPattern : Pattern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servletSecurityConfig : ServletSecurityConfig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boundServlets : Map&lt;Servlet, Map&gt;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validators : List&lt;PolicyValidator&gt;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647187"/>
            <a:ext cx="2660904" cy="109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665475"/>
            <a:ext cx="2606040" cy="9646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activate(Config) / deactivate()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bindServlet(Servlet, Map) : void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unbindServlet(Servlet, Map) : void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doFilter(req, res, chain) : void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- evaluatePoliciesAndFindActive()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- handleSecurityViolation(...) : void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627632" y="3666744"/>
            <a:ext cx="182880" cy="164592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0512" y="3639312"/>
            <a:ext cx="12344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750" b="1">
                <a:solidFill>
                  <a:srgbClr val="334155"/>
                </a:solidFill>
                <a:latin typeface="Malgun Gothic"/>
              </a:defRPr>
            </a:pPr>
            <a:r>
              <a:t>@Designate 주입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849624"/>
            <a:ext cx="269748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49624"/>
            <a:ext cx="2697480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3867911"/>
            <a:ext cx="2624328" cy="36575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2000"/>
              </a:lnSpc>
              <a:defRPr sz="720" b="0">
                <a:solidFill>
                  <a:srgbClr val="FFFFFF"/>
                </a:solidFill>
                <a:latin typeface="Consolas"/>
              </a:defRPr>
            </a:pPr>
            <a:r>
              <a:t>«@ObjectClassDefinition»</a:t>
            </a:r>
          </a:p>
          <a:p>
            <a:pPr algn="ctr">
              <a:lnSpc>
                <a:spcPct val="102000"/>
              </a:lnSpc>
              <a:defRPr sz="950" b="1">
                <a:solidFill>
                  <a:srgbClr val="FFFFFF"/>
                </a:solidFill>
                <a:latin typeface="Consolas"/>
              </a:defRPr>
            </a:pPr>
            <a:r>
              <a:t>SecurityFilter.Config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261104"/>
            <a:ext cx="2606040" cy="10607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+ enabled() : boolean = true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+ sling_filter_pattern() : String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+ validator_referer|method|param_enabled()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+ default_referrer() / default_methods()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+ default_blockSqlInjection() / blockXss()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+ default_params() : String[]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+ default_ignoreServletPolicies() : boolean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422392"/>
            <a:ext cx="26974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422392"/>
            <a:ext cx="2697480" cy="3840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" y="5440679"/>
            <a:ext cx="2624328" cy="36575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2000"/>
              </a:lnSpc>
              <a:defRPr sz="720" b="0">
                <a:solidFill>
                  <a:srgbClr val="FFFFFF"/>
                </a:solidFill>
                <a:latin typeface="Consolas"/>
              </a:defRPr>
            </a:pPr>
            <a:r>
              <a:t>«Utility»</a:t>
            </a:r>
          </a:p>
          <a:p>
            <a:pPr algn="ctr">
              <a:lnSpc>
                <a:spcPct val="102000"/>
              </a:lnSpc>
              <a:defRPr sz="950" b="1">
                <a:solidFill>
                  <a:srgbClr val="FFFFFF"/>
                </a:solidFill>
                <a:latin typeface="Consolas"/>
              </a:defRPr>
            </a:pPr>
            <a:r>
              <a:t>SecurityUtils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833872"/>
            <a:ext cx="260604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getClientIp(HttpServletRequest) : String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sanitizeForLog(String) : String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090672" y="2148840"/>
            <a:ext cx="246888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920240"/>
            <a:ext cx="36576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20" b="1">
                <a:solidFill>
                  <a:srgbClr val="0D9488"/>
                </a:solidFill>
                <a:latin typeface="Malgun Gothic"/>
              </a:defRPr>
            </a:pPr>
            <a:r>
              <a:t>1 보유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64992" y="1225296"/>
            <a:ext cx="292608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64992" y="1225296"/>
            <a:ext cx="292608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1243584"/>
            <a:ext cx="2852928" cy="36575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2000"/>
              </a:lnSpc>
              <a:defRPr sz="720" b="0">
                <a:solidFill>
                  <a:srgbClr val="FFFFFF"/>
                </a:solidFill>
                <a:latin typeface="Consolas"/>
              </a:defRPr>
            </a:pPr>
            <a:r>
              <a:t>«Root Config Container»</a:t>
            </a:r>
          </a:p>
          <a:p>
            <a:pPr algn="ctr">
              <a:lnSpc>
                <a:spcPct val="102000"/>
              </a:lnSpc>
              <a:defRPr sz="950" b="1">
                <a:solidFill>
                  <a:srgbClr val="FFFFFF"/>
                </a:solidFill>
                <a:latin typeface="Consolas"/>
              </a:defRPr>
            </a:pPr>
            <a:r>
              <a:t>ServletSecurityConfig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0712" y="1636776"/>
            <a:ext cx="2834640" cy="12873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enabled : Boolean = true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defaultReferrer : String = "abc.com"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ignoreServletPolicies : Boolean = false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defaultPolicy : ServletPolicyRule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policies : List&lt;ServletPolicyRule&gt;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dynamicExactUriMap : Map&lt;String, Rule&gt;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dynamicResourceTypeMap : Map&lt;String, Rule&gt;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dynamicPatternPolicies : List&lt;Rule&gt;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validatorStatusMap : Map&lt;String, Boolean&gt;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2933264"/>
            <a:ext cx="2889504" cy="109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10712" y="2951552"/>
            <a:ext cx="2834640" cy="67861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init() : void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findMatchingPolicy(req) : ServletPolicyRule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registerDynamicPolicy(rule) : void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unregisterDynamicPolicy(target) : void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isValidatorEnabled(name) : boolean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4736592" y="3666744"/>
            <a:ext cx="182880" cy="164592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3639312"/>
            <a:ext cx="14173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750" b="1">
                <a:solidFill>
                  <a:srgbClr val="2563EB"/>
                </a:solidFill>
                <a:latin typeface="Malgun Gothic"/>
              </a:defRPr>
            </a:pPr>
            <a:r>
              <a:t>1 default / 0..* policies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64992" y="3849624"/>
            <a:ext cx="2926080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64992" y="3849624"/>
            <a:ext cx="29260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867911"/>
            <a:ext cx="2852928" cy="36575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2000"/>
              </a:lnSpc>
              <a:defRPr sz="720" b="0">
                <a:solidFill>
                  <a:srgbClr val="FFFFFF"/>
                </a:solidFill>
                <a:latin typeface="Consolas"/>
              </a:defRPr>
            </a:pPr>
            <a:r>
              <a:t>«Policy Model»</a:t>
            </a:r>
          </a:p>
          <a:p>
            <a:pPr algn="ctr">
              <a:lnSpc>
                <a:spcPct val="102000"/>
              </a:lnSpc>
              <a:defRPr sz="950" b="1">
                <a:solidFill>
                  <a:srgbClr val="FFFFFF"/>
                </a:solidFill>
                <a:latin typeface="Consolas"/>
              </a:defRPr>
            </a:pPr>
            <a:r>
              <a:t>ServletPolicyRule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0712" y="4261104"/>
            <a:ext cx="2834640" cy="106351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target : String / enabled : Boolean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methods : List&lt;String&gt; (upperMethods : Set)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defaultReferrer : String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allowedReferrers : List&lt;String&gt;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allowUndefinedParams : Boolean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blockSqlInjection / blockXss : Boolean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params : Map&lt;String, ParamRule&gt;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5333765"/>
            <a:ext cx="2889504" cy="109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10712" y="5352053"/>
            <a:ext cx="2834640" cy="87501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init() / validate(errors) : void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matches(HttpServletRequest) : boolean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inheritFrom(ServletPolicyRule) : void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isMethodAllowed(String) : boolean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fromOsgiProperties(props, default) : List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parseSimpleParamSpec(spec) : Entry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318504" y="1691640"/>
            <a:ext cx="237744" cy="201168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4496" y="1444752"/>
            <a:ext cx="38404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20" b="1">
                <a:solidFill>
                  <a:srgbClr val="4F46E5"/>
                </a:solidFill>
                <a:latin typeface="Malgun Gothic"/>
              </a:defRPr>
            </a:pPr>
            <a:r>
              <a:t>1..3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1225296"/>
            <a:ext cx="269748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0" y="1225296"/>
            <a:ext cx="269748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0256" y="1243584"/>
            <a:ext cx="2624328" cy="36575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2000"/>
              </a:lnSpc>
              <a:defRPr sz="720" b="0">
                <a:solidFill>
                  <a:srgbClr val="FFFFFF"/>
                </a:solidFill>
                <a:latin typeface="Consolas"/>
              </a:defRPr>
            </a:pPr>
            <a:r>
              <a:t>«Strategy Interface»</a:t>
            </a:r>
          </a:p>
          <a:p>
            <a:pPr algn="ctr">
              <a:lnSpc>
                <a:spcPct val="102000"/>
              </a:lnSpc>
              <a:defRPr sz="950" b="1">
                <a:solidFill>
                  <a:srgbClr val="FFFFFF"/>
                </a:solidFill>
                <a:latin typeface="Consolas"/>
              </a:defRPr>
            </a:pPr>
            <a:r>
              <a:t>PolicyValidator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1636776"/>
            <a:ext cx="260604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getName() : String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isEnabled(policy, rootConfig) : boolean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validate(req, policy, cfg) : ValidationResult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describePassedConfig(...) : String</a:t>
            </a:r>
          </a:p>
        </p:txBody>
      </p:sp>
      <p:sp>
        <p:nvSpPr>
          <p:cNvPr id="47" name="Up Arrow 46"/>
          <p:cNvSpPr/>
          <p:nvPr/>
        </p:nvSpPr>
        <p:spPr>
          <a:xfrm>
            <a:off x="7845552" y="2322576"/>
            <a:ext cx="182880" cy="164592"/>
          </a:xfrm>
          <a:prstGeom prst="up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2295144"/>
            <a:ext cx="12344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750" b="1">
                <a:solidFill>
                  <a:srgbClr val="4F46E5"/>
                </a:solidFill>
                <a:latin typeface="Malgun Gothic"/>
              </a:defRPr>
            </a:pPr>
            <a:r>
              <a:t>implements (3)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0" y="2505456"/>
            <a:ext cx="2697480" cy="132588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651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656832" y="2560320"/>
            <a:ext cx="2551176" cy="20116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1. RefererPolicyValidator ("REFERER")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6832" y="2770632"/>
            <a:ext cx="255117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700" b="0">
                <a:solidFill>
                  <a:srgbClr val="0F172A"/>
                </a:solidFill>
                <a:latin typeface="Consolas"/>
              </a:defRPr>
            </a:pPr>
            <a:r>
              <a:t>+ isRefererAllowed() / extractHost / isDomainMatched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56832" y="2980944"/>
            <a:ext cx="2551176" cy="20116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2. MethodPolicyValidator ("METHOD")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6832" y="3191256"/>
            <a:ext cx="255117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700" b="0">
                <a:solidFill>
                  <a:srgbClr val="0F172A"/>
                </a:solidFill>
                <a:latin typeface="Consolas"/>
              </a:defRPr>
            </a:pPr>
            <a:r>
              <a:t>+ validate() -&gt; policy.isMethodAllowed(method)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656832" y="3401568"/>
            <a:ext cx="2551176" cy="20116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defRPr sz="780" b="1">
                <a:solidFill>
                  <a:srgbClr val="FFFFFF"/>
                </a:solidFill>
                <a:latin typeface="Malgun Gothic"/>
              </a:defRPr>
            </a:pPr>
            <a:r>
              <a:t>3. ParamPolicyValidator ("PARAM")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56832" y="3611880"/>
            <a:ext cx="255117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700" b="0">
                <a:solidFill>
                  <a:srgbClr val="0F172A"/>
                </a:solidFill>
                <a:latin typeface="Consolas"/>
              </a:defRPr>
            </a:pPr>
            <a:r>
              <a:t>+ isPathTraversal / isSqlInjection / isXssAttack()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6318504" y="4983480"/>
            <a:ext cx="237744" cy="201168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4736592"/>
            <a:ext cx="347472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50" b="1">
                <a:solidFill>
                  <a:srgbClr val="4F46E5"/>
                </a:solidFill>
                <a:latin typeface="Malgun Gothic"/>
              </a:defRPr>
            </a:pPr>
            <a:r>
              <a:t>0..*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0" y="3849624"/>
            <a:ext cx="2697480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583680" y="3849624"/>
            <a:ext cx="269748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20256" y="3867911"/>
            <a:ext cx="2624328" cy="36575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2000"/>
              </a:lnSpc>
              <a:defRPr sz="720" b="0">
                <a:solidFill>
                  <a:srgbClr val="FFFFFF"/>
                </a:solidFill>
                <a:latin typeface="Consolas"/>
              </a:defRPr>
            </a:pPr>
            <a:r>
              <a:t>«Parameter Model»</a:t>
            </a:r>
          </a:p>
          <a:p>
            <a:pPr algn="ctr">
              <a:lnSpc>
                <a:spcPct val="102000"/>
              </a:lnSpc>
              <a:defRPr sz="950" b="1">
                <a:solidFill>
                  <a:srgbClr val="FFFFFF"/>
                </a:solidFill>
                <a:latin typeface="Consolas"/>
              </a:defRPr>
            </a:pPr>
            <a:r>
              <a:t>ParamRule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4261104"/>
            <a:ext cx="2606040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enabled : Boolean = true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required : Boolean = false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minLength : Integer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maxLength : Integer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pattern : String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compiledPattern : Pattern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allowPathTraversal : Boolean = false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allowSqlInjection : Boolean = false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allowXss : Boolean = false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01968" y="5751576"/>
            <a:ext cx="2660904" cy="109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29400" y="5769864"/>
            <a:ext cx="26060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init() : void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validate(paramName, target, errors)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toSummaryString() : String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9299448" y="1691640"/>
            <a:ext cx="237744" cy="201168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53728" y="1463040"/>
            <a:ext cx="329184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720" b="1">
                <a:solidFill>
                  <a:srgbClr val="D97706"/>
                </a:solidFill>
                <a:latin typeface="Malgun Gothic"/>
              </a:defRPr>
            </a:pPr>
            <a:r>
              <a:t>반환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555480" y="1225296"/>
            <a:ext cx="2267712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555480" y="1225296"/>
            <a:ext cx="2267712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92055" y="1243584"/>
            <a:ext cx="21945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2000"/>
              </a:lnSpc>
              <a:defRPr sz="720" b="0">
                <a:solidFill>
                  <a:srgbClr val="FFFFFF"/>
                </a:solidFill>
                <a:latin typeface="Consolas"/>
              </a:defRPr>
            </a:pPr>
            <a:r>
              <a:t>«Immutable Result DTO»</a:t>
            </a:r>
          </a:p>
          <a:p>
            <a:pPr algn="ctr">
              <a:lnSpc>
                <a:spcPct val="102000"/>
              </a:lnSpc>
              <a:defRPr sz="950" b="1">
                <a:solidFill>
                  <a:srgbClr val="FFFFFF"/>
                </a:solidFill>
                <a:latin typeface="Consolas"/>
              </a:defRPr>
            </a:pPr>
            <a:r>
              <a:t>ValidationResult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01200" y="1636776"/>
            <a:ext cx="2176272" cy="10012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valid : boolean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statusCode : int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errorCode : SecurityErrorCode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blockedConfig : String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violationDetail : String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- responseMessage : String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3767" y="2647187"/>
            <a:ext cx="2231136" cy="109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01200" y="2665475"/>
            <a:ext cx="2176272" cy="9646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ok() : ValidationResult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error(code, detail, args...)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errorWithConfig(code, cfg, ...)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isValid() : boolean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getSubCode() : String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getBlockedConfig() : String</a:t>
            </a:r>
          </a:p>
        </p:txBody>
      </p:sp>
      <p:sp>
        <p:nvSpPr>
          <p:cNvPr id="72" name="Down Arrow 71"/>
          <p:cNvSpPr/>
          <p:nvPr/>
        </p:nvSpPr>
        <p:spPr>
          <a:xfrm>
            <a:off x="10597896" y="3666744"/>
            <a:ext cx="182880" cy="164592"/>
          </a:xfrm>
          <a:prstGeom prst="down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808208" y="3639312"/>
            <a:ext cx="10058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defRPr sz="750" b="1">
                <a:solidFill>
                  <a:srgbClr val="DC2626"/>
                </a:solidFill>
                <a:latin typeface="Malgun Gothic"/>
              </a:defRPr>
            </a:pPr>
            <a:r>
              <a:t>에러코드 참조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555480" y="3849624"/>
            <a:ext cx="2267712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55480" y="3849624"/>
            <a:ext cx="2267712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92055" y="3867911"/>
            <a:ext cx="2194560" cy="36575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2000"/>
              </a:lnSpc>
              <a:defRPr sz="720" b="0">
                <a:solidFill>
                  <a:srgbClr val="FFFFFF"/>
                </a:solidFill>
                <a:latin typeface="Consolas"/>
              </a:defRPr>
            </a:pPr>
            <a:r>
              <a:t>«Standard Error Enum»</a:t>
            </a:r>
          </a:p>
          <a:p>
            <a:pPr algn="ctr">
              <a:lnSpc>
                <a:spcPct val="102000"/>
              </a:lnSpc>
              <a:defRPr sz="950" b="1">
                <a:solidFill>
                  <a:srgbClr val="FFFFFF"/>
                </a:solidFill>
                <a:latin typeface="Consolas"/>
              </a:defRPr>
            </a:pPr>
            <a:r>
              <a:t>SecurityErrorCode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01200" y="4261104"/>
            <a:ext cx="2176272" cy="1563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REFERER_UNTRUSTED (40303)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METHOD_NOT_ALLOWED (40501)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PARAM_REQUIRED (40001)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PARAM_UNDEFINED (40002)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PARAM_TOO_SHORT (40003)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PARAM_TOO_LONG (40004)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PARAM_INVALID_FORMAT (40005)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PARAM_PATH_TRAVERSAL (40007)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PARAM_SQL_INJECTION (40008)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0F172A"/>
                </a:solidFill>
                <a:latin typeface="Consolas"/>
              </a:defRPr>
            </a:pPr>
            <a:r>
              <a:t>PARAM_XSS (40009)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573767" y="5833872"/>
            <a:ext cx="2231136" cy="109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601200" y="5852159"/>
            <a:ext cx="2176272" cy="3749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getHttpStatus() / getSubCode()</a:t>
            </a:r>
          </a:p>
          <a:p>
            <a:pPr algn="l">
              <a:lnSpc>
                <a:spcPct val="110000"/>
              </a:lnSpc>
              <a:defRPr sz="740" b="0">
                <a:solidFill>
                  <a:srgbClr val="334155"/>
                </a:solidFill>
                <a:latin typeface="Consolas"/>
              </a:defRPr>
            </a:pPr>
            <a:r>
              <a:t>+ format(Object...) : String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65760" y="6309360"/>
            <a:ext cx="11457432" cy="32918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5488" y="635508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18000"/>
              </a:lnSpc>
              <a:defRPr sz="830" b="1">
                <a:solidFill>
                  <a:srgbClr val="FFFFFF"/>
                </a:solidFill>
                <a:latin typeface="Malgun Gothic"/>
              </a:defRPr>
            </a:pPr>
            <a:r>
              <a:t>[관계 요약]  SecurityFilter (1) ➔ (1) ServletSecurityConfig (1..*) ➔ ServletPolicyRule (0..*) ➔ ParamRule   |   SecurityFilter (1) ➔ (3) PolicyValidator (Referer · Method · Param) ➔ ValidationResult ➔ SecurityErrorCode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